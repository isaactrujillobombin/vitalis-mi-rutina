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9"/>
    <p:sldId id="260" r:id="rId6"/>
    <p:sldId id="261" r:id="rId7"/>
    <p:sldId id="262" r:id="rId8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c3433eb4-9908-5a59-185a-9afe9bf0f37d}">
          <p14:sldIdLst>
            <p14:sldId id="256"/>
            <p14:sldId id="257"/>
            <p14:sldId id="258"/>
          </p14:sldIdLst>
        </p14:section>
        <p14:section name="Solución" id="{7bb32439-32bb-ffc3-0fc3-d59666e050ca}">
          <p14:sldIdLst>
            <p14:sldId id="259"/>
            <p14:sldId id="260"/>
            <p14:sldId id="261"/>
          </p14:sldIdLst>
        </p14:section>
        <p14:section name="Calidad" id="{fec86184-8a38-fa07-8332-fb86eadd66ed}">
          <p14:sldIdLst>
            <p14:sldId id="262"/>
            <p14:sldId id="263"/>
          </p14:sldIdLst>
        </p14:section>
        <p14:section name="Cierre" id="{00b7a560-94fe-1fa6-7635-8451a56976c7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Vitalis — Mi Rutina. Somos NexoTeam: Isaac, Iker y Enzo. Es una app móvil para que personas de 65 a 85 años hagan una sesión guiada y segura de «Levantarse de la silla». El reto del proyecto es la soledad de las personas mayores.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no es el desinterés, es el miedo a caerse. Las apps de fitness hablan de calorías y series, y eso no les sirve. Moverse menos lleva a salir menos y a relacionarse menos. Vitalis ataca dos causas del aislamiento: la pérdida de autonomía y la falta de motivos de contacto con la familia.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Nuestra persona de referencia es Rosa, 78 años, vive sola, tiene osteoporosis y sus hijos viven lejos. El segundo usuario es el familiar, que solo recibe un aviso: no usa la app. El objetivo del MVP es muy concreto: que complete y registre una sesión sin ayuda y sin miedo.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completo en cinco pasos. En Inicio ve su sesión del día. En Ejercicio se muestra primero la preparación del espacio y luego los pasos. Al terminar pide confirmación antes de registrar. Se guarda en el móvil y puede avisar a la familia. Y lo más importante: si algo duele, «Me duele» lleva a una pausa que no se registra como completada.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Así se ve la app de verdad, en un iPhone: son capturas de la versión validada, no del diseño. En Inicio, Rosa ve su sesión del día y un único botón grande para empezar. En Ejercicio aparece primero la preparación del espacio y después los pasos. El botón «Me duele» está siempre a la vista: lleva a una pausa que no cuenta como sesión hecha. Y al terminar, la sesión queda registrada en el móvil y puede avisar a su familia.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diseño parte de la usuaria: botones de al menos 48 píxeles, texto de 18, contraste 4,5 a 1 según WCAG. Los estados siempre con icono y texto, nunca solo color. Todo el flujo se puede hacer con teclado y el lenguaje es llano.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servidor, ni cuentas, ni analíticas, ni peticiones a terceros: los registros se guardan en el propio dispositivo. No se guardan nombres, contactos ni datos de salud. Avisar a la familia usa la hoja de compartir del sistema, así que ella elige a quién y nosotros nunca tocamos sus contactos.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lo más pequeño que cumple la especificación: una app web para móvil con React y TypeScript, sin servidor. Tres capas: pantallas, lógica con una máquina de estados, y datos detrás de un repositorio, de modo que mañana se podría cambiar localStorage por una API sin tocar las pantallas.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Hacia dónde puede crecer Vitalis. Primero, la lectura por voz de los pasos. Después Mi Plato, un registro nutricional que necesita validación profesional, y el Reto en Familia, con desafíos y progreso compartido, que requiere servidor y cuentas.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turno de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Vitalis — Mi Rutina · NexoTeam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 txBox="1"/>
          <p:nvPr/>
        </p:nvSpPr>
        <p:spPr>
          <a:xfrm>
            <a:off x="640080" y="822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5"/>
                </a:solidFill>
              </a:rPr>
              <a:t>VITALIS</a:t>
            </a:r>
            <a:endParaRPr lang="en-US" sz="16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12344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 Rutina</a:t>
            </a:r>
            <a:endParaRPr lang="en-US" sz="5400" dirty="0"/>
          </a:p>
        </p:txBody>
      </p:sp>
      <p:sp>
        <p:nvSpPr>
          <p:cNvPr id="4" name="Subtítulo"/>
          <p:cNvSpPr txBox="1"/>
          <p:nvPr/>
        </p:nvSpPr>
        <p:spPr>
          <a:xfrm>
            <a:off x="640080" y="2240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Ejercicio guiado y seguro para personas de 65 a 85 años</a:t>
            </a:r>
            <a:endParaRPr lang="en-US" sz="2000" dirty="0"/>
          </a:p>
        </p:txBody>
      </p:sp>
      <p:sp>
        <p:nvSpPr>
          <p:cNvPr id="5" name="Equipo"/>
          <p:cNvSpPr txBox="1"/>
          <p:nvPr/>
        </p:nvSpPr>
        <p:spPr>
          <a:xfrm>
            <a:off x="640080" y="38404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NexoTeam · Isaac, Iker y Enzo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Proyecto interdisciplinar Monlau · 2.º DAM / 2.º DAW · 2026-2027</a:t>
            </a:r>
            <a:endParaRPr lang="en-US" sz="1400" dirty="0"/>
          </a:p>
        </p:txBody>
      </p:sp>
      <p:sp>
        <p:nvSpPr>
          <p:cNvPr id="6" name="Tarjeta logo"/>
          <p:cNvSpPr/>
          <p:nvPr/>
        </p:nvSpPr>
        <p:spPr>
          <a:xfrm>
            <a:off x="5852160" y="822960"/>
            <a:ext cx="2743200" cy="32918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Logo Vitalis" descr="Logotipo de Vitalis Mi Rut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35024"/>
            <a:ext cx="2286000" cy="22585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El problema: el miedo a moverse</a:t>
            </a:r>
            <a:endParaRPr lang="en-US" sz="3400" dirty="0"/>
          </a:p>
        </p:txBody>
      </p:sp>
      <p:sp>
        <p:nvSpPr>
          <p:cNvPr id="3" name="Tarjeta 1"/>
          <p:cNvSpPr/>
          <p:nvPr/>
        </p:nvSpPr>
        <p:spPr>
          <a:xfrm>
            <a:off x="548640" y="1325880"/>
            <a:ext cx="23774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o 1 fondo"/>
          <p:cNvSpPr/>
          <p:nvPr/>
        </p:nvSpPr>
        <p:spPr>
          <a:xfrm>
            <a:off x="777240" y="1508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o 1" descr="Icon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62379"/>
            <a:ext cx="241402" cy="241402"/>
          </a:xfrm>
          <a:prstGeom prst="rect">
            <a:avLst/>
          </a:prstGeom>
        </p:spPr>
      </p:pic>
      <p:sp>
        <p:nvSpPr>
          <p:cNvPr id="6" name="Título 1"/>
          <p:cNvSpPr txBox="1"/>
          <p:nvPr/>
        </p:nvSpPr>
        <p:spPr>
          <a:xfrm>
            <a:off x="777240" y="21945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Miedo a caerse</a:t>
            </a:r>
            <a:endParaRPr lang="en-US" sz="1800" dirty="0"/>
          </a:p>
        </p:txBody>
      </p:sp>
      <p:sp>
        <p:nvSpPr>
          <p:cNvPr id="7" name="Texto 1"/>
          <p:cNvSpPr txBox="1"/>
          <p:nvPr/>
        </p:nvSpPr>
        <p:spPr>
          <a:xfrm>
            <a:off x="777240" y="2560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abandona el ejercicio por miedo a lesionarse, no por desinterés.</a:t>
            </a:r>
            <a:endParaRPr lang="en-US" sz="1400" dirty="0"/>
          </a:p>
        </p:txBody>
      </p:sp>
      <p:pic>
        <p:nvPicPr>
          <p:cNvPr id="8" name="Flecha 1" descr="siguien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2148840"/>
            <a:ext cx="237744" cy="237744"/>
          </a:xfrm>
          <a:prstGeom prst="rect">
            <a:avLst/>
          </a:prstGeom>
        </p:spPr>
      </p:pic>
      <p:sp>
        <p:nvSpPr>
          <p:cNvPr id="9" name="Tarjeta 2"/>
          <p:cNvSpPr/>
          <p:nvPr/>
        </p:nvSpPr>
        <p:spPr>
          <a:xfrm>
            <a:off x="3383280" y="1325880"/>
            <a:ext cx="23774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o 2 fondo"/>
          <p:cNvSpPr/>
          <p:nvPr/>
        </p:nvSpPr>
        <p:spPr>
          <a:xfrm>
            <a:off x="3611880" y="1508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o 2" descr="Icono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5499" y="1662379"/>
            <a:ext cx="241402" cy="241402"/>
          </a:xfrm>
          <a:prstGeom prst="rect">
            <a:avLst/>
          </a:prstGeom>
        </p:spPr>
      </p:pic>
      <p:sp>
        <p:nvSpPr>
          <p:cNvPr id="12" name="Título 2"/>
          <p:cNvSpPr txBox="1"/>
          <p:nvPr/>
        </p:nvSpPr>
        <p:spPr>
          <a:xfrm>
            <a:off x="3611880" y="21945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Menos movimiento</a:t>
            </a:r>
            <a:endParaRPr lang="en-US" sz="1800" dirty="0"/>
          </a:p>
        </p:txBody>
      </p:sp>
      <p:sp>
        <p:nvSpPr>
          <p:cNvPr id="13" name="Texto 2"/>
          <p:cNvSpPr txBox="1"/>
          <p:nvPr/>
        </p:nvSpPr>
        <p:spPr>
          <a:xfrm>
            <a:off x="3611880" y="2560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pierde fuerza y masa ósea más rápido sin actividad dirigida.</a:t>
            </a:r>
            <a:endParaRPr lang="en-US" sz="1400" dirty="0"/>
          </a:p>
        </p:txBody>
      </p:sp>
      <p:pic>
        <p:nvPicPr>
          <p:cNvPr id="14" name="Flecha 2" descr="siguien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148840"/>
            <a:ext cx="237744" cy="237744"/>
          </a:xfrm>
          <a:prstGeom prst="rect">
            <a:avLst/>
          </a:prstGeom>
        </p:spPr>
      </p:pic>
      <p:sp>
        <p:nvSpPr>
          <p:cNvPr id="15" name="Tarjeta 3"/>
          <p:cNvSpPr/>
          <p:nvPr/>
        </p:nvSpPr>
        <p:spPr>
          <a:xfrm>
            <a:off x="6217920" y="1325880"/>
            <a:ext cx="23774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o 3 fondo"/>
          <p:cNvSpPr/>
          <p:nvPr/>
        </p:nvSpPr>
        <p:spPr>
          <a:xfrm>
            <a:off x="6446520" y="1508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o 3" descr="Icono 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139" y="1662379"/>
            <a:ext cx="241402" cy="241402"/>
          </a:xfrm>
          <a:prstGeom prst="rect">
            <a:avLst/>
          </a:prstGeom>
        </p:spPr>
      </p:pic>
      <p:sp>
        <p:nvSpPr>
          <p:cNvPr id="18" name="Título 3"/>
          <p:cNvSpPr txBox="1"/>
          <p:nvPr/>
        </p:nvSpPr>
        <p:spPr>
          <a:xfrm>
            <a:off x="6446520" y="21945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Menos vida social</a:t>
            </a:r>
            <a:endParaRPr lang="en-US" sz="1800" dirty="0"/>
          </a:p>
        </p:txBody>
      </p:sp>
      <p:sp>
        <p:nvSpPr>
          <p:cNvPr id="19" name="Texto 3"/>
          <p:cNvSpPr txBox="1"/>
          <p:nvPr/>
        </p:nvSpPr>
        <p:spPr>
          <a:xfrm>
            <a:off x="6446520" y="2560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no se siente segura sale menos de casa y se relaciona menos.</a:t>
            </a:r>
            <a:endParaRPr lang="en-US" sz="1400" dirty="0"/>
          </a:p>
        </p:txBody>
      </p:sp>
      <p:sp>
        <p:nvSpPr>
          <p:cNvPr id="20" name="Banda soluciones"/>
          <p:cNvSpPr/>
          <p:nvPr/>
        </p:nvSpPr>
        <p:spPr>
          <a:xfrm>
            <a:off x="548640" y="3611880"/>
            <a:ext cx="804672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Banda título"/>
          <p:cNvSpPr txBox="1"/>
          <p:nvPr/>
        </p:nvSpPr>
        <p:spPr>
          <a:xfrm>
            <a:off x="822960" y="36758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Vitalis ataca dos causas del aislamiento</a:t>
            </a:r>
            <a:endParaRPr lang="en-US" sz="1400" dirty="0"/>
          </a:p>
        </p:txBody>
      </p:sp>
      <p:sp>
        <p:nvSpPr>
          <p:cNvPr id="22" name="Causa 1"/>
          <p:cNvSpPr txBox="1"/>
          <p:nvPr/>
        </p:nvSpPr>
        <p:spPr>
          <a:xfrm>
            <a:off x="82296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Pérdida de autonomía: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una sesión guiada con salida segura.</a:t>
            </a:r>
            <a:endParaRPr lang="en-US" sz="1400" dirty="0"/>
          </a:p>
        </p:txBody>
      </p:sp>
      <p:sp>
        <p:nvSpPr>
          <p:cNvPr id="23" name="Causa 2"/>
          <p:cNvSpPr txBox="1"/>
          <p:nvPr/>
        </p:nvSpPr>
        <p:spPr>
          <a:xfrm>
            <a:off x="466344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Falta de motivos de contacto: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«Avisar a la familia».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Para quién: Rosa, 78 años</a:t>
            </a:r>
            <a:endParaRPr lang="en-US" sz="3400" dirty="0"/>
          </a:p>
        </p:txBody>
      </p:sp>
      <p:sp>
        <p:nvSpPr>
          <p:cNvPr id="3" name="Tarjeta usuaria"/>
          <p:cNvSpPr/>
          <p:nvPr/>
        </p:nvSpPr>
        <p:spPr>
          <a:xfrm>
            <a:off x="548640" y="1325880"/>
            <a:ext cx="448056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Etiqueta usuaria"/>
          <p:cNvSpPr txBox="1"/>
          <p:nvPr/>
        </p:nvSpPr>
        <p:spPr>
          <a:xfrm>
            <a:off x="822960" y="148132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USUARIA PRINCIPAL</a:t>
            </a:r>
            <a:endParaRPr lang="en-US" sz="1100" dirty="0"/>
          </a:p>
        </p:txBody>
      </p:sp>
      <p:sp>
        <p:nvSpPr>
          <p:cNvPr id="5" name="Lista usuaria"/>
          <p:cNvSpPr txBox="1"/>
          <p:nvPr/>
        </p:nvSpPr>
        <p:spPr>
          <a:xfrm>
            <a:off x="822960" y="17830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Vive sola y tiene osteoporosis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Sus hijos viven fuera de la ciudad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Poca experiencia digital y miedo a lesionarse</a:t>
            </a:r>
            <a:endParaRPr lang="en-US" sz="1400" dirty="0"/>
          </a:p>
        </p:txBody>
      </p:sp>
      <p:sp>
        <p:nvSpPr>
          <p:cNvPr id="6" name="Cita"/>
          <p:cNvSpPr txBox="1"/>
          <p:nvPr/>
        </p:nvSpPr>
        <p:spPr>
          <a:xfrm>
            <a:off x="822960" y="27889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«No necesito una app que me trate como si tuviera veinte años.»</a:t>
            </a:r>
            <a:endParaRPr lang="en-US" sz="1500" dirty="0"/>
          </a:p>
        </p:txBody>
      </p:sp>
      <p:sp>
        <p:nvSpPr>
          <p:cNvPr id="7" name="Tarjeta familiar"/>
          <p:cNvSpPr/>
          <p:nvPr/>
        </p:nvSpPr>
        <p:spPr>
          <a:xfrm>
            <a:off x="5212080" y="1325880"/>
            <a:ext cx="33832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tiqueta familiar"/>
          <p:cNvSpPr txBox="1"/>
          <p:nvPr/>
        </p:nvSpPr>
        <p:spPr>
          <a:xfrm>
            <a:off x="5440680" y="14813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FAMILIAR (CUIDADOR)</a:t>
            </a:r>
            <a:endParaRPr lang="en-US" sz="1100" dirty="0"/>
          </a:p>
        </p:txBody>
      </p:sp>
      <p:sp>
        <p:nvSpPr>
          <p:cNvPr id="9" name="Texto familiar"/>
          <p:cNvSpPr txBox="1"/>
          <p:nvPr/>
        </p:nvSpPr>
        <p:spPr>
          <a:xfrm>
            <a:off x="5440680" y="1783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Hijos e hijas de 40 a 55 años que viven lejos.</a:t>
            </a:r>
            <a:endParaRPr lang="en-US" sz="1400" dirty="0"/>
          </a:p>
        </p:txBody>
      </p:sp>
      <p:sp>
        <p:nvSpPr>
          <p:cNvPr id="10" name="Texto familiar 2"/>
          <p:cNvSpPr txBox="1"/>
          <p:nvPr/>
        </p:nvSpPr>
        <p:spPr>
          <a:xfrm>
            <a:off x="5440680" y="2514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recibe el aviso por el canal que elija ella. No usa la app.</a:t>
            </a:r>
            <a:endParaRPr lang="en-US" sz="1400" dirty="0"/>
          </a:p>
        </p:txBody>
      </p:sp>
      <p:sp>
        <p:nvSpPr>
          <p:cNvPr id="11" name="Banda objetivo"/>
          <p:cNvSpPr/>
          <p:nvPr/>
        </p:nvSpPr>
        <p:spPr>
          <a:xfrm>
            <a:off x="548640" y="3657600"/>
            <a:ext cx="8046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Objetivo"/>
          <p:cNvSpPr txBox="1"/>
          <p:nvPr/>
        </p:nvSpPr>
        <p:spPr>
          <a:xfrm>
            <a:off x="822960" y="37033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Objetivo del MVP: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que una persona mayor complete y registre, sin ayuda y sin miedo, una sesión breve de «Levantarse de la silla» (8 repeticiones + 30 s de descanso).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Cómo funciona</a:t>
            </a:r>
            <a:endParaRPr lang="en-US" sz="3400" dirty="0"/>
          </a:p>
        </p:txBody>
      </p:sp>
      <p:sp>
        <p:nvSpPr>
          <p:cNvPr id="3" name="Paso 1"/>
          <p:cNvSpPr/>
          <p:nvPr/>
        </p:nvSpPr>
        <p:spPr>
          <a:xfrm>
            <a:off x="548640" y="1280160"/>
            <a:ext cx="1463040" cy="201168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Número 1"/>
          <p:cNvSpPr/>
          <p:nvPr/>
        </p:nvSpPr>
        <p:spPr>
          <a:xfrm>
            <a:off x="685800" y="1417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texto 1"/>
          <p:cNvSpPr txBox="1"/>
          <p:nvPr/>
        </p:nvSpPr>
        <p:spPr>
          <a:xfrm>
            <a:off x="68580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aso título 1"/>
          <p:cNvSpPr txBox="1"/>
          <p:nvPr/>
        </p:nvSpPr>
        <p:spPr>
          <a:xfrm>
            <a:off x="68580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Inicio</a:t>
            </a:r>
            <a:endParaRPr lang="en-US" sz="1600" dirty="0"/>
          </a:p>
        </p:txBody>
      </p:sp>
      <p:sp>
        <p:nvSpPr>
          <p:cNvPr id="7" name="Paso texto 1"/>
          <p:cNvSpPr txBox="1"/>
          <p:nvPr/>
        </p:nvSpPr>
        <p:spPr>
          <a:xfrm>
            <a:off x="685800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 su sesión del día: Pendiente o Hecha hoy.</a:t>
            </a:r>
            <a:endParaRPr lang="en-US" sz="1400" dirty="0"/>
          </a:p>
        </p:txBody>
      </p:sp>
      <p:sp>
        <p:nvSpPr>
          <p:cNvPr id="8" name="Paso 2"/>
          <p:cNvSpPr/>
          <p:nvPr/>
        </p:nvSpPr>
        <p:spPr>
          <a:xfrm>
            <a:off x="2194560" y="1280160"/>
            <a:ext cx="1463040" cy="201168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Número 2"/>
          <p:cNvSpPr/>
          <p:nvPr/>
        </p:nvSpPr>
        <p:spPr>
          <a:xfrm>
            <a:off x="2331720" y="1417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úmero texto 2"/>
          <p:cNvSpPr txBox="1"/>
          <p:nvPr/>
        </p:nvSpPr>
        <p:spPr>
          <a:xfrm>
            <a:off x="233172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Paso título 2"/>
          <p:cNvSpPr txBox="1"/>
          <p:nvPr/>
        </p:nvSpPr>
        <p:spPr>
          <a:xfrm>
            <a:off x="233172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Ejercicio</a:t>
            </a:r>
            <a:endParaRPr lang="en-US" sz="1600" dirty="0"/>
          </a:p>
        </p:txBody>
      </p:sp>
      <p:sp>
        <p:nvSpPr>
          <p:cNvPr id="12" name="Paso texto 2"/>
          <p:cNvSpPr txBox="1"/>
          <p:nvPr/>
        </p:nvSpPr>
        <p:spPr>
          <a:xfrm>
            <a:off x="2331720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Prepara el espacio y sigue los pasos escritos.</a:t>
            </a:r>
            <a:endParaRPr lang="en-US" sz="1400" dirty="0"/>
          </a:p>
        </p:txBody>
      </p:sp>
      <p:sp>
        <p:nvSpPr>
          <p:cNvPr id="13" name="Paso 3"/>
          <p:cNvSpPr/>
          <p:nvPr/>
        </p:nvSpPr>
        <p:spPr>
          <a:xfrm>
            <a:off x="3840480" y="1280160"/>
            <a:ext cx="1463040" cy="201168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Número 3"/>
          <p:cNvSpPr/>
          <p:nvPr/>
        </p:nvSpPr>
        <p:spPr>
          <a:xfrm>
            <a:off x="3977640" y="1417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Número texto 3"/>
          <p:cNvSpPr txBox="1"/>
          <p:nvPr/>
        </p:nvSpPr>
        <p:spPr>
          <a:xfrm>
            <a:off x="39776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Paso título 3"/>
          <p:cNvSpPr txBox="1"/>
          <p:nvPr/>
        </p:nvSpPr>
        <p:spPr>
          <a:xfrm>
            <a:off x="397764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Confirmar</a:t>
            </a:r>
            <a:endParaRPr lang="en-US" sz="1600" dirty="0"/>
          </a:p>
        </p:txBody>
      </p:sp>
      <p:sp>
        <p:nvSpPr>
          <p:cNvPr id="17" name="Paso texto 3"/>
          <p:cNvSpPr txBox="1"/>
          <p:nvPr/>
        </p:nvSpPr>
        <p:spPr>
          <a:xfrm>
            <a:off x="3977640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«Terminar ejercicio» pide confirmación explícita.</a:t>
            </a:r>
            <a:endParaRPr lang="en-US" sz="1400" dirty="0"/>
          </a:p>
        </p:txBody>
      </p:sp>
      <p:sp>
        <p:nvSpPr>
          <p:cNvPr id="18" name="Paso 4"/>
          <p:cNvSpPr/>
          <p:nvPr/>
        </p:nvSpPr>
        <p:spPr>
          <a:xfrm>
            <a:off x="5486400" y="1280160"/>
            <a:ext cx="1463040" cy="201168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Número 4"/>
          <p:cNvSpPr/>
          <p:nvPr/>
        </p:nvSpPr>
        <p:spPr>
          <a:xfrm>
            <a:off x="5623560" y="1417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Número texto 4"/>
          <p:cNvSpPr txBox="1"/>
          <p:nvPr/>
        </p:nvSpPr>
        <p:spPr>
          <a:xfrm>
            <a:off x="56235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o título 4"/>
          <p:cNvSpPr txBox="1"/>
          <p:nvPr/>
        </p:nvSpPr>
        <p:spPr>
          <a:xfrm>
            <a:off x="562356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Registrada</a:t>
            </a:r>
            <a:endParaRPr lang="en-US" sz="1600" dirty="0"/>
          </a:p>
        </p:txBody>
      </p:sp>
      <p:sp>
        <p:nvSpPr>
          <p:cNvPr id="22" name="Paso texto 4"/>
          <p:cNvSpPr txBox="1"/>
          <p:nvPr/>
        </p:nvSpPr>
        <p:spPr>
          <a:xfrm>
            <a:off x="5623560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guarda en su móvil con fecha y hora.</a:t>
            </a:r>
            <a:endParaRPr lang="en-US" sz="1400" dirty="0"/>
          </a:p>
        </p:txBody>
      </p:sp>
      <p:sp>
        <p:nvSpPr>
          <p:cNvPr id="23" name="Paso 5"/>
          <p:cNvSpPr/>
          <p:nvPr/>
        </p:nvSpPr>
        <p:spPr>
          <a:xfrm>
            <a:off x="7132320" y="1280160"/>
            <a:ext cx="1463040" cy="201168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Número 5"/>
          <p:cNvSpPr/>
          <p:nvPr/>
        </p:nvSpPr>
        <p:spPr>
          <a:xfrm>
            <a:off x="7269480" y="1417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Número texto 5"/>
          <p:cNvSpPr txBox="1"/>
          <p:nvPr/>
        </p:nvSpPr>
        <p:spPr>
          <a:xfrm>
            <a:off x="72694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Paso título 5"/>
          <p:cNvSpPr txBox="1"/>
          <p:nvPr/>
        </p:nvSpPr>
        <p:spPr>
          <a:xfrm>
            <a:off x="726948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Avisar</a:t>
            </a:r>
            <a:endParaRPr lang="en-US" sz="1600" dirty="0"/>
          </a:p>
        </p:txBody>
      </p:sp>
      <p:sp>
        <p:nvSpPr>
          <p:cNvPr id="27" name="Paso texto 5"/>
          <p:cNvSpPr txBox="1"/>
          <p:nvPr/>
        </p:nvSpPr>
        <p:spPr>
          <a:xfrm>
            <a:off x="7269480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Comparte con su familia con un toque.</a:t>
            </a:r>
            <a:endParaRPr lang="en-US" sz="1400" dirty="0"/>
          </a:p>
        </p:txBody>
      </p:sp>
      <p:sp>
        <p:nvSpPr>
          <p:cNvPr id="28" name="Banda salida segura"/>
          <p:cNvSpPr/>
          <p:nvPr/>
        </p:nvSpPr>
        <p:spPr>
          <a:xfrm>
            <a:off x="548640" y="3520440"/>
            <a:ext cx="8046720" cy="1051560"/>
          </a:xfrm>
          <a:prstGeom prst="roundRect">
            <a:avLst>
              <a:gd name="adj" fmla="val 10435"/>
            </a:avLst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Icono salida segura fondo"/>
          <p:cNvSpPr/>
          <p:nvPr/>
        </p:nvSpPr>
        <p:spPr>
          <a:xfrm>
            <a:off x="777240" y="376732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o salida segura" descr="Icono salida seg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3920947"/>
            <a:ext cx="241402" cy="241402"/>
          </a:xfrm>
          <a:prstGeom prst="rect">
            <a:avLst/>
          </a:prstGeom>
        </p:spPr>
      </p:pic>
      <p:sp>
        <p:nvSpPr>
          <p:cNvPr id="31" name="Salida título"/>
          <p:cNvSpPr txBox="1"/>
          <p:nvPr/>
        </p:nvSpPr>
        <p:spPr>
          <a:xfrm>
            <a:off x="1554480" y="36576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33707"/>
                </a:solidFill>
              </a:rPr>
              <a:t>Salida segura: «Me duele»</a:t>
            </a:r>
            <a:endParaRPr lang="en-US" sz="1800" dirty="0"/>
          </a:p>
        </p:txBody>
      </p:sp>
      <p:sp>
        <p:nvSpPr>
          <p:cNvPr id="32" name="Salida texto"/>
          <p:cNvSpPr txBox="1"/>
          <p:nvPr/>
        </p:nvSpPr>
        <p:spPr>
          <a:xfrm>
            <a:off x="1554480" y="4023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«Para el ejercicio» → «Pausar sesión» → «No registrada como completada». Nunca cuenta como sesión hecha.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La app, en el móvil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26" name="Pantalla 1: Inicio" descr="Captura real de la pantalla Inicio de Vitalis en un iPh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171" y="1078992"/>
            <a:ext cx="1426617" cy="2788920"/>
          </a:xfrm>
          <a:prstGeom prst="rect">
            <a:avLst/>
          </a:prstGeom>
        </p:spPr>
      </p:pic>
      <p:sp>
        <p:nvSpPr>
          <p:cNvPr id="27" name="Número 1"/>
          <p:cNvSpPr/>
          <p:nvPr/>
        </p:nvSpPr>
        <p:spPr>
          <a:xfrm>
            <a:off x="713232" y="3959352"/>
            <a:ext cx="274320" cy="274320"/>
          </a:xfrm>
          <a:prstGeom prst="ellipse">
            <a:avLst/>
          </a:prstGeom>
          <a:solidFill>
            <a:srgbClr val="B4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Título pantalla 1"/>
          <p:cNvSpPr txBox="1"/>
          <p:nvPr/>
        </p:nvSpPr>
        <p:spPr>
          <a:xfrm>
            <a:off x="1060704" y="3941063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294A"/>
                </a:solidFill>
              </a:rPr>
              <a:t>Inicio</a:t>
            </a:r>
          </a:p>
        </p:txBody>
      </p:sp>
      <p:sp>
        <p:nvSpPr>
          <p:cNvPr id="29" name="Texto pantalla 1"/>
          <p:cNvSpPr txBox="1"/>
          <p:nvPr/>
        </p:nvSpPr>
        <p:spPr>
          <a:xfrm>
            <a:off x="713232" y="4261104"/>
            <a:ext cx="1719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66D"/>
                </a:solidFill>
              </a:rPr>
              <a:t>Su sesión del día, pendiente o hecha</a:t>
            </a:r>
          </a:p>
        </p:txBody>
      </p:sp>
      <p:pic>
        <p:nvPicPr>
          <p:cNvPr id="30" name="Pantalla 2: Ejercicio" descr="Captura real de la pantalla Ejercicio de Vitalis en un iPh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851" y="1078992"/>
            <a:ext cx="1426617" cy="2788920"/>
          </a:xfrm>
          <a:prstGeom prst="rect">
            <a:avLst/>
          </a:prstGeom>
        </p:spPr>
      </p:pic>
      <p:sp>
        <p:nvSpPr>
          <p:cNvPr id="31" name="Número 2"/>
          <p:cNvSpPr/>
          <p:nvPr/>
        </p:nvSpPr>
        <p:spPr>
          <a:xfrm>
            <a:off x="2724912" y="3959352"/>
            <a:ext cx="274320" cy="274320"/>
          </a:xfrm>
          <a:prstGeom prst="ellipse">
            <a:avLst/>
          </a:prstGeom>
          <a:solidFill>
            <a:srgbClr val="B4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2" name="Título pantalla 2"/>
          <p:cNvSpPr txBox="1"/>
          <p:nvPr/>
        </p:nvSpPr>
        <p:spPr>
          <a:xfrm>
            <a:off x="3072384" y="3941063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294A"/>
                </a:solidFill>
              </a:rPr>
              <a:t>Ejercicio</a:t>
            </a:r>
          </a:p>
        </p:txBody>
      </p:sp>
      <p:sp>
        <p:nvSpPr>
          <p:cNvPr id="33" name="Texto pantalla 2"/>
          <p:cNvSpPr txBox="1"/>
          <p:nvPr/>
        </p:nvSpPr>
        <p:spPr>
          <a:xfrm>
            <a:off x="2724912" y="4261104"/>
            <a:ext cx="1719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66D"/>
                </a:solidFill>
              </a:rPr>
              <a:t>Primero la preparación, luego los pasos</a:t>
            </a:r>
          </a:p>
        </p:txBody>
      </p:sp>
      <p:pic>
        <p:nvPicPr>
          <p:cNvPr id="34" name="Pantalla 3: «Me duele»" descr="Captura real de la pantalla «Me duele» de Vitalis en un iPho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531" y="1078992"/>
            <a:ext cx="1426617" cy="2788920"/>
          </a:xfrm>
          <a:prstGeom prst="rect">
            <a:avLst/>
          </a:prstGeom>
        </p:spPr>
      </p:pic>
      <p:sp>
        <p:nvSpPr>
          <p:cNvPr id="35" name="Número 3"/>
          <p:cNvSpPr/>
          <p:nvPr/>
        </p:nvSpPr>
        <p:spPr>
          <a:xfrm>
            <a:off x="4736592" y="3959352"/>
            <a:ext cx="274320" cy="274320"/>
          </a:xfrm>
          <a:prstGeom prst="ellipse">
            <a:avLst/>
          </a:prstGeom>
          <a:solidFill>
            <a:srgbClr val="B4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6" name="Título pantalla 3"/>
          <p:cNvSpPr txBox="1"/>
          <p:nvPr/>
        </p:nvSpPr>
        <p:spPr>
          <a:xfrm>
            <a:off x="5084064" y="3941063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294A"/>
                </a:solidFill>
              </a:rPr>
              <a:t>«Me duele»</a:t>
            </a:r>
          </a:p>
        </p:txBody>
      </p:sp>
      <p:sp>
        <p:nvSpPr>
          <p:cNvPr id="37" name="Texto pantalla 3"/>
          <p:cNvSpPr txBox="1"/>
          <p:nvPr/>
        </p:nvSpPr>
        <p:spPr>
          <a:xfrm>
            <a:off x="4736592" y="4261104"/>
            <a:ext cx="1719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66D"/>
                </a:solidFill>
              </a:rPr>
              <a:t>Siempre visible: pausa sin registrar</a:t>
            </a:r>
          </a:p>
        </p:txBody>
      </p:sp>
      <p:pic>
        <p:nvPicPr>
          <p:cNvPr id="38" name="Pantalla 4: Registrada" descr="Captura real de la pantalla Registrada de Vitalis en un iPho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11" y="1078992"/>
            <a:ext cx="1426617" cy="2788920"/>
          </a:xfrm>
          <a:prstGeom prst="rect">
            <a:avLst/>
          </a:prstGeom>
        </p:spPr>
      </p:pic>
      <p:sp>
        <p:nvSpPr>
          <p:cNvPr id="39" name="Número 4"/>
          <p:cNvSpPr/>
          <p:nvPr/>
        </p:nvSpPr>
        <p:spPr>
          <a:xfrm>
            <a:off x="6748272" y="3959352"/>
            <a:ext cx="274320" cy="274320"/>
          </a:xfrm>
          <a:prstGeom prst="ellipse">
            <a:avLst/>
          </a:prstGeom>
          <a:solidFill>
            <a:srgbClr val="B4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0" name="Título pantalla 4"/>
          <p:cNvSpPr txBox="1"/>
          <p:nvPr/>
        </p:nvSpPr>
        <p:spPr>
          <a:xfrm>
            <a:off x="7095744" y="3941063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6294A"/>
                </a:solidFill>
              </a:rPr>
              <a:t>Registrada</a:t>
            </a:r>
          </a:p>
        </p:txBody>
      </p:sp>
      <p:sp>
        <p:nvSpPr>
          <p:cNvPr id="41" name="Texto pantalla 4"/>
          <p:cNvSpPr txBox="1"/>
          <p:nvPr/>
        </p:nvSpPr>
        <p:spPr>
          <a:xfrm>
            <a:off x="6748272" y="4261104"/>
            <a:ext cx="1719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66D"/>
                </a:solidFill>
              </a:rPr>
              <a:t>Guardada en el móvil y aviso a la familia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Diseñada para personas mayores</a:t>
            </a:r>
            <a:endParaRPr lang="en-US" sz="3400" dirty="0"/>
          </a:p>
        </p:txBody>
      </p:sp>
      <p:sp>
        <p:nvSpPr>
          <p:cNvPr id="3" name="Dato 1"/>
          <p:cNvSpPr/>
          <p:nvPr/>
        </p:nvSpPr>
        <p:spPr>
          <a:xfrm>
            <a:off x="548640" y="1325880"/>
            <a:ext cx="256032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Cifra 1"/>
          <p:cNvSpPr txBox="1"/>
          <p:nvPr/>
        </p:nvSpPr>
        <p:spPr>
          <a:xfrm>
            <a:off x="777240" y="1463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px</a:t>
            </a:r>
            <a:endParaRPr lang="en-US" sz="4000" dirty="0"/>
          </a:p>
        </p:txBody>
      </p:sp>
      <p:sp>
        <p:nvSpPr>
          <p:cNvPr id="5" name="Cifra texto 1"/>
          <p:cNvSpPr txBox="1"/>
          <p:nvPr/>
        </p:nvSpPr>
        <p:spPr>
          <a:xfrm>
            <a:off x="77724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Zona pulsable mínima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91840" y="1325880"/>
            <a:ext cx="256032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Cifra 2"/>
          <p:cNvSpPr txBox="1"/>
          <p:nvPr/>
        </p:nvSpPr>
        <p:spPr>
          <a:xfrm>
            <a:off x="3520440" y="1463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px</a:t>
            </a:r>
            <a:endParaRPr lang="en-US" sz="4000" dirty="0"/>
          </a:p>
        </p:txBody>
      </p:sp>
      <p:sp>
        <p:nvSpPr>
          <p:cNvPr id="8" name="Cifra texto 2"/>
          <p:cNvSpPr txBox="1"/>
          <p:nvPr/>
        </p:nvSpPr>
        <p:spPr>
          <a:xfrm>
            <a:off x="352044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Texto de cuerpo; títulos de 24 px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325880"/>
            <a:ext cx="256032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ifra 3"/>
          <p:cNvSpPr txBox="1"/>
          <p:nvPr/>
        </p:nvSpPr>
        <p:spPr>
          <a:xfrm>
            <a:off x="6263640" y="1463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 : 1</a:t>
            </a:r>
            <a:endParaRPr lang="en-US" sz="4000" dirty="0"/>
          </a:p>
        </p:txBody>
      </p:sp>
      <p:sp>
        <p:nvSpPr>
          <p:cNvPr id="11" name="Cifra texto 3"/>
          <p:cNvSpPr txBox="1"/>
          <p:nvPr/>
        </p:nvSpPr>
        <p:spPr>
          <a:xfrm>
            <a:off x="626364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Contraste mínimo (WCAG 2.2 AA)</a:t>
            </a:r>
            <a:endParaRPr lang="en-US" sz="1400" dirty="0"/>
          </a:p>
        </p:txBody>
      </p:sp>
      <p:sp>
        <p:nvSpPr>
          <p:cNvPr id="12" name="Panel accesibilidad"/>
          <p:cNvSpPr/>
          <p:nvPr/>
        </p:nvSpPr>
        <p:spPr>
          <a:xfrm>
            <a:off x="548640" y="3108960"/>
            <a:ext cx="804672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Check 1" descr="comprob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91840"/>
            <a:ext cx="274320" cy="274320"/>
          </a:xfrm>
          <a:prstGeom prst="rect">
            <a:avLst/>
          </a:prstGeom>
        </p:spPr>
      </p:pic>
      <p:sp>
        <p:nvSpPr>
          <p:cNvPr id="14" name="Punto título 1"/>
          <p:cNvSpPr txBox="1"/>
          <p:nvPr/>
        </p:nvSpPr>
        <p:spPr>
          <a:xfrm>
            <a:off x="123444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Icono y texto</a:t>
            </a:r>
            <a:endParaRPr lang="en-US" sz="1600" dirty="0"/>
          </a:p>
        </p:txBody>
      </p:sp>
      <p:sp>
        <p:nvSpPr>
          <p:cNvPr id="15" name="Punto texto 1"/>
          <p:cNvSpPr txBox="1"/>
          <p:nvPr/>
        </p:nvSpPr>
        <p:spPr>
          <a:xfrm>
            <a:off x="822960" y="3657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Ningún estado se comunica solo con color.</a:t>
            </a:r>
            <a:endParaRPr lang="en-US" sz="1400" dirty="0"/>
          </a:p>
        </p:txBody>
      </p:sp>
      <p:pic>
        <p:nvPicPr>
          <p:cNvPr id="16" name="Check 2" descr="comprob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3291840"/>
            <a:ext cx="274320" cy="274320"/>
          </a:xfrm>
          <a:prstGeom prst="rect">
            <a:avLst/>
          </a:prstGeom>
        </p:spPr>
      </p:pic>
      <p:sp>
        <p:nvSpPr>
          <p:cNvPr id="17" name="Punto título 2"/>
          <p:cNvSpPr txBox="1"/>
          <p:nvPr/>
        </p:nvSpPr>
        <p:spPr>
          <a:xfrm>
            <a:off x="384048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Solo teclado</a:t>
            </a:r>
            <a:endParaRPr lang="en-US" sz="1600" dirty="0"/>
          </a:p>
        </p:txBody>
      </p:sp>
      <p:sp>
        <p:nvSpPr>
          <p:cNvPr id="18" name="Punto texto 2"/>
          <p:cNvSpPr txBox="1"/>
          <p:nvPr/>
        </p:nvSpPr>
        <p:spPr>
          <a:xfrm>
            <a:off x="3429000" y="3657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Todo el flujo se completa sin ratón; el foco es visible.</a:t>
            </a:r>
            <a:endParaRPr lang="en-US" sz="1400" dirty="0"/>
          </a:p>
        </p:txBody>
      </p:sp>
      <p:pic>
        <p:nvPicPr>
          <p:cNvPr id="19" name="Check 3" descr="comproba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291840"/>
            <a:ext cx="274320" cy="274320"/>
          </a:xfrm>
          <a:prstGeom prst="rect">
            <a:avLst/>
          </a:prstGeom>
        </p:spPr>
      </p:pic>
      <p:sp>
        <p:nvSpPr>
          <p:cNvPr id="20" name="Punto título 3"/>
          <p:cNvSpPr txBox="1"/>
          <p:nvPr/>
        </p:nvSpPr>
        <p:spPr>
          <a:xfrm>
            <a:off x="64465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Lenguaje llano</a:t>
            </a:r>
            <a:endParaRPr lang="en-US" sz="1600" dirty="0"/>
          </a:p>
        </p:txBody>
      </p:sp>
      <p:sp>
        <p:nvSpPr>
          <p:cNvPr id="21" name="Punto texto 3"/>
          <p:cNvSpPr txBox="1"/>
          <p:nvPr/>
        </p:nvSpPr>
        <p:spPr>
          <a:xfrm>
            <a:off x="6035040" y="3657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Frases cortas, sin «series» ni «reps».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Privacidad: todo se queda en el móvil</a:t>
            </a:r>
            <a:endParaRPr lang="en-US" sz="3400" dirty="0"/>
          </a:p>
        </p:txBody>
      </p:sp>
      <p:sp>
        <p:nvSpPr>
          <p:cNvPr id="3" name="Cero 1"/>
          <p:cNvSpPr/>
          <p:nvPr/>
        </p:nvSpPr>
        <p:spPr>
          <a:xfrm>
            <a:off x="548640" y="1325880"/>
            <a:ext cx="201168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Cero cifra 1"/>
          <p:cNvSpPr txBox="1"/>
          <p:nvPr/>
        </p:nvSpPr>
        <p:spPr>
          <a:xfrm>
            <a:off x="777240" y="143560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5" name="Cero texto 1"/>
          <p:cNvSpPr txBox="1"/>
          <p:nvPr/>
        </p:nvSpPr>
        <p:spPr>
          <a:xfrm>
            <a:off x="77724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servidores</a:t>
            </a:r>
            <a:endParaRPr lang="en-US" sz="1400" dirty="0"/>
          </a:p>
        </p:txBody>
      </p:sp>
      <p:sp>
        <p:nvSpPr>
          <p:cNvPr id="6" name="Cero 2"/>
          <p:cNvSpPr/>
          <p:nvPr/>
        </p:nvSpPr>
        <p:spPr>
          <a:xfrm>
            <a:off x="2743200" y="1325880"/>
            <a:ext cx="201168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Cero cifra 2"/>
          <p:cNvSpPr txBox="1"/>
          <p:nvPr/>
        </p:nvSpPr>
        <p:spPr>
          <a:xfrm>
            <a:off x="2971800" y="143560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Cero texto 2"/>
          <p:cNvSpPr txBox="1"/>
          <p:nvPr/>
        </p:nvSpPr>
        <p:spPr>
          <a:xfrm>
            <a:off x="297180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cuentas</a:t>
            </a:r>
            <a:endParaRPr lang="en-US" sz="1400" dirty="0"/>
          </a:p>
        </p:txBody>
      </p:sp>
      <p:sp>
        <p:nvSpPr>
          <p:cNvPr id="9" name="Cero 3"/>
          <p:cNvSpPr/>
          <p:nvPr/>
        </p:nvSpPr>
        <p:spPr>
          <a:xfrm>
            <a:off x="548640" y="2926080"/>
            <a:ext cx="201168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ero cifra 3"/>
          <p:cNvSpPr txBox="1"/>
          <p:nvPr/>
        </p:nvSpPr>
        <p:spPr>
          <a:xfrm>
            <a:off x="777240" y="303580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1" name="Cero texto 3"/>
          <p:cNvSpPr txBox="1"/>
          <p:nvPr/>
        </p:nvSpPr>
        <p:spPr>
          <a:xfrm>
            <a:off x="77724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analíticas</a:t>
            </a:r>
            <a:endParaRPr lang="en-US" sz="1400" dirty="0"/>
          </a:p>
        </p:txBody>
      </p:sp>
      <p:sp>
        <p:nvSpPr>
          <p:cNvPr id="12" name="Cero 4"/>
          <p:cNvSpPr/>
          <p:nvPr/>
        </p:nvSpPr>
        <p:spPr>
          <a:xfrm>
            <a:off x="2743200" y="2926080"/>
            <a:ext cx="201168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Cero cifra 4"/>
          <p:cNvSpPr txBox="1"/>
          <p:nvPr/>
        </p:nvSpPr>
        <p:spPr>
          <a:xfrm>
            <a:off x="2971800" y="303580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4" name="Cero texto 4"/>
          <p:cNvSpPr txBox="1"/>
          <p:nvPr/>
        </p:nvSpPr>
        <p:spPr>
          <a:xfrm>
            <a:off x="297180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peticiones a terceros</a:t>
            </a:r>
            <a:endParaRPr lang="en-US" sz="1400" dirty="0"/>
          </a:p>
        </p:txBody>
      </p:sp>
      <p:sp>
        <p:nvSpPr>
          <p:cNvPr id="15" name="Tarjeta familia"/>
          <p:cNvSpPr/>
          <p:nvPr/>
        </p:nvSpPr>
        <p:spPr>
          <a:xfrm>
            <a:off x="5120640" y="132588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o compartir fondo"/>
          <p:cNvSpPr/>
          <p:nvPr/>
        </p:nvSpPr>
        <p:spPr>
          <a:xfrm>
            <a:off x="539496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o compartir" descr="Icono compart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8579" y="1708099"/>
            <a:ext cx="241402" cy="241402"/>
          </a:xfrm>
          <a:prstGeom prst="rect">
            <a:avLst/>
          </a:prstGeom>
        </p:spPr>
      </p:pic>
      <p:sp>
        <p:nvSpPr>
          <p:cNvPr id="18" name="Familia título"/>
          <p:cNvSpPr txBox="1"/>
          <p:nvPr/>
        </p:nvSpPr>
        <p:spPr>
          <a:xfrm>
            <a:off x="5394960" y="2240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Avisar a la familia</a:t>
            </a:r>
            <a:endParaRPr lang="en-US" sz="2000" dirty="0"/>
          </a:p>
        </p:txBody>
      </p:sp>
      <p:sp>
        <p:nvSpPr>
          <p:cNvPr id="19" name="Familia texto"/>
          <p:cNvSpPr txBox="1"/>
          <p:nvPr/>
        </p:nvSpPr>
        <p:spPr>
          <a:xfrm>
            <a:off x="5394960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Abre la hoja de compartir del móvil. Ella elige a quién enviarlo: la app no lee ni guarda contactos.</a:t>
            </a:r>
            <a:endParaRPr lang="en-US" sz="1400" dirty="0"/>
          </a:p>
        </p:txBody>
      </p:sp>
      <p:sp>
        <p:nvSpPr>
          <p:cNvPr id="20" name="Familia mensaje"/>
          <p:cNvSpPr txBox="1"/>
          <p:nvPr/>
        </p:nvSpPr>
        <p:spPr>
          <a:xfrm>
            <a:off x="539496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«Hoy he hecho mi rutina de Vitalis: Levantarse de la silla, 8 repeticiones.»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Tecnología y arquitectura</a:t>
            </a:r>
            <a:endParaRPr lang="en-US" sz="3400" dirty="0"/>
          </a:p>
        </p:txBody>
      </p:sp>
      <p:sp>
        <p:nvSpPr>
          <p:cNvPr id="3" name="Capa 1"/>
          <p:cNvSpPr/>
          <p:nvPr/>
        </p:nvSpPr>
        <p:spPr>
          <a:xfrm>
            <a:off x="548640" y="1325880"/>
            <a:ext cx="3657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Capa título 1"/>
          <p:cNvSpPr txBox="1"/>
          <p:nvPr/>
        </p:nvSpPr>
        <p:spPr>
          <a:xfrm>
            <a:off x="777240" y="14356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Pantallas</a:t>
            </a:r>
            <a:endParaRPr lang="en-US" sz="1600" dirty="0"/>
          </a:p>
        </p:txBody>
      </p:sp>
      <p:sp>
        <p:nvSpPr>
          <p:cNvPr id="5" name="Capa texto 1"/>
          <p:cNvSpPr txBox="1"/>
          <p:nvPr/>
        </p:nvSpPr>
        <p:spPr>
          <a:xfrm>
            <a:off x="777240" y="17556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Inicio · Ejercicio · Registrada · Pausada</a:t>
            </a:r>
            <a:endParaRPr lang="en-US" sz="1400" dirty="0"/>
          </a:p>
        </p:txBody>
      </p:sp>
      <p:sp>
        <p:nvSpPr>
          <p:cNvPr id="6" name="Flecha capa 1"/>
          <p:cNvSpPr/>
          <p:nvPr/>
        </p:nvSpPr>
        <p:spPr>
          <a:xfrm>
            <a:off x="2240280" y="2221992"/>
            <a:ext cx="274320" cy="219456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Capa 2"/>
          <p:cNvSpPr/>
          <p:nvPr/>
        </p:nvSpPr>
        <p:spPr>
          <a:xfrm>
            <a:off x="548640" y="2468880"/>
            <a:ext cx="3657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Capa título 2"/>
          <p:cNvSpPr txBox="1"/>
          <p:nvPr/>
        </p:nvSpPr>
        <p:spPr>
          <a:xfrm>
            <a:off x="777240" y="25786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Lógica</a:t>
            </a:r>
            <a:endParaRPr lang="en-US" sz="1600" dirty="0"/>
          </a:p>
        </p:txBody>
      </p:sp>
      <p:sp>
        <p:nvSpPr>
          <p:cNvPr id="9" name="Capa texto 2"/>
          <p:cNvSpPr txBox="1"/>
          <p:nvPr/>
        </p:nvSpPr>
        <p:spPr>
          <a:xfrm>
            <a:off x="777240" y="28986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useSessionFlow: máquina de estados</a:t>
            </a:r>
            <a:endParaRPr lang="en-US" sz="1400" dirty="0"/>
          </a:p>
        </p:txBody>
      </p:sp>
      <p:sp>
        <p:nvSpPr>
          <p:cNvPr id="10" name="Flecha capa 2"/>
          <p:cNvSpPr/>
          <p:nvPr/>
        </p:nvSpPr>
        <p:spPr>
          <a:xfrm>
            <a:off x="2240280" y="3364992"/>
            <a:ext cx="274320" cy="219456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apa 3"/>
          <p:cNvSpPr/>
          <p:nvPr/>
        </p:nvSpPr>
        <p:spPr>
          <a:xfrm>
            <a:off x="548640" y="3611880"/>
            <a:ext cx="3657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Capa título 3"/>
          <p:cNvSpPr txBox="1"/>
          <p:nvPr/>
        </p:nvSpPr>
        <p:spPr>
          <a:xfrm>
            <a:off x="777240" y="37216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Datos</a:t>
            </a:r>
            <a:endParaRPr lang="en-US" sz="1600" dirty="0"/>
          </a:p>
        </p:txBody>
      </p:sp>
      <p:sp>
        <p:nvSpPr>
          <p:cNvPr id="13" name="Capa texto 3"/>
          <p:cNvSpPr txBox="1"/>
          <p:nvPr/>
        </p:nvSpPr>
        <p:spPr>
          <a:xfrm>
            <a:off x="777240" y="40416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sessionRepository → localStorage</a:t>
            </a:r>
            <a:endParaRPr lang="en-US" sz="1400" dirty="0"/>
          </a:p>
        </p:txBody>
      </p:sp>
      <p:sp>
        <p:nvSpPr>
          <p:cNvPr id="14" name="Tecnología 1"/>
          <p:cNvSpPr/>
          <p:nvPr/>
        </p:nvSpPr>
        <p:spPr>
          <a:xfrm>
            <a:off x="4526280" y="1325880"/>
            <a:ext cx="19202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c etiqueta 1"/>
          <p:cNvSpPr txBox="1"/>
          <p:nvPr/>
        </p:nvSpPr>
        <p:spPr>
          <a:xfrm>
            <a:off x="4709160" y="1435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INTERFAZ</a:t>
            </a:r>
            <a:endParaRPr lang="en-US" sz="1100" dirty="0"/>
          </a:p>
        </p:txBody>
      </p:sp>
      <p:sp>
        <p:nvSpPr>
          <p:cNvPr id="16" name="Tec valor 1"/>
          <p:cNvSpPr txBox="1"/>
          <p:nvPr/>
        </p:nvSpPr>
        <p:spPr>
          <a:xfrm>
            <a:off x="4709160" y="1709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React 18 + TypeScript</a:t>
            </a:r>
            <a:endParaRPr lang="en-US" sz="1400" dirty="0"/>
          </a:p>
        </p:txBody>
      </p:sp>
      <p:sp>
        <p:nvSpPr>
          <p:cNvPr id="17" name="Tecnología 2"/>
          <p:cNvSpPr/>
          <p:nvPr/>
        </p:nvSpPr>
        <p:spPr>
          <a:xfrm>
            <a:off x="6583680" y="1325880"/>
            <a:ext cx="19202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c etiqueta 2"/>
          <p:cNvSpPr txBox="1"/>
          <p:nvPr/>
        </p:nvSpPr>
        <p:spPr>
          <a:xfrm>
            <a:off x="6766560" y="1435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NAVEGACIÓN</a:t>
            </a:r>
            <a:endParaRPr lang="en-US" sz="1100" dirty="0"/>
          </a:p>
        </p:txBody>
      </p:sp>
      <p:sp>
        <p:nvSpPr>
          <p:cNvPr id="19" name="Tec valor 2"/>
          <p:cNvSpPr txBox="1"/>
          <p:nvPr/>
        </p:nvSpPr>
        <p:spPr>
          <a:xfrm>
            <a:off x="6766560" y="1709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React Router</a:t>
            </a:r>
            <a:endParaRPr lang="en-US" sz="1400" dirty="0"/>
          </a:p>
        </p:txBody>
      </p:sp>
      <p:sp>
        <p:nvSpPr>
          <p:cNvPr id="20" name="Tecnología 3"/>
          <p:cNvSpPr/>
          <p:nvPr/>
        </p:nvSpPr>
        <p:spPr>
          <a:xfrm>
            <a:off x="4526280" y="2468880"/>
            <a:ext cx="19202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c etiqueta 3"/>
          <p:cNvSpPr txBox="1"/>
          <p:nvPr/>
        </p:nvSpPr>
        <p:spPr>
          <a:xfrm>
            <a:off x="4709160" y="2578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BUILD</a:t>
            </a:r>
            <a:endParaRPr lang="en-US" sz="1100" dirty="0"/>
          </a:p>
        </p:txBody>
      </p:sp>
      <p:sp>
        <p:nvSpPr>
          <p:cNvPr id="22" name="Tec valor 3"/>
          <p:cNvSpPr txBox="1"/>
          <p:nvPr/>
        </p:nvSpPr>
        <p:spPr>
          <a:xfrm>
            <a:off x="4709160" y="2852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Vite</a:t>
            </a:r>
            <a:endParaRPr lang="en-US" sz="1400" dirty="0"/>
          </a:p>
        </p:txBody>
      </p:sp>
      <p:sp>
        <p:nvSpPr>
          <p:cNvPr id="23" name="Tecnología 4"/>
          <p:cNvSpPr/>
          <p:nvPr/>
        </p:nvSpPr>
        <p:spPr>
          <a:xfrm>
            <a:off x="6583680" y="2468880"/>
            <a:ext cx="19202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c etiqueta 4"/>
          <p:cNvSpPr txBox="1"/>
          <p:nvPr/>
        </p:nvSpPr>
        <p:spPr>
          <a:xfrm>
            <a:off x="6766560" y="2578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DATOS</a:t>
            </a:r>
            <a:endParaRPr lang="en-US" sz="1100" dirty="0"/>
          </a:p>
        </p:txBody>
      </p:sp>
      <p:sp>
        <p:nvSpPr>
          <p:cNvPr id="25" name="Tec valor 4"/>
          <p:cNvSpPr txBox="1"/>
          <p:nvPr/>
        </p:nvSpPr>
        <p:spPr>
          <a:xfrm>
            <a:off x="6766560" y="2852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localStorage</a:t>
            </a:r>
            <a:endParaRPr lang="en-US" sz="1400" dirty="0"/>
          </a:p>
        </p:txBody>
      </p:sp>
      <p:sp>
        <p:nvSpPr>
          <p:cNvPr id="26" name="Tecnología 5"/>
          <p:cNvSpPr/>
          <p:nvPr/>
        </p:nvSpPr>
        <p:spPr>
          <a:xfrm>
            <a:off x="4526280" y="3611880"/>
            <a:ext cx="19202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c etiqueta 5"/>
          <p:cNvSpPr txBox="1"/>
          <p:nvPr/>
        </p:nvSpPr>
        <p:spPr>
          <a:xfrm>
            <a:off x="4709160" y="3721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COMPARTIR</a:t>
            </a:r>
            <a:endParaRPr lang="en-US" sz="1100" dirty="0"/>
          </a:p>
        </p:txBody>
      </p:sp>
      <p:sp>
        <p:nvSpPr>
          <p:cNvPr id="28" name="Tec valor 5"/>
          <p:cNvSpPr txBox="1"/>
          <p:nvPr/>
        </p:nvSpPr>
        <p:spPr>
          <a:xfrm>
            <a:off x="4709160" y="3995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Web Share API</a:t>
            </a:r>
            <a:endParaRPr lang="en-US" sz="1400" dirty="0"/>
          </a:p>
        </p:txBody>
      </p:sp>
      <p:sp>
        <p:nvSpPr>
          <p:cNvPr id="29" name="Tecnología 6"/>
          <p:cNvSpPr/>
          <p:nvPr/>
        </p:nvSpPr>
        <p:spPr>
          <a:xfrm>
            <a:off x="6583680" y="3611880"/>
            <a:ext cx="19202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c etiqueta 6"/>
          <p:cNvSpPr txBox="1"/>
          <p:nvPr/>
        </p:nvSpPr>
        <p:spPr>
          <a:xfrm>
            <a:off x="6766560" y="3721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CALIDAD</a:t>
            </a:r>
            <a:endParaRPr lang="en-US" sz="1100" dirty="0"/>
          </a:p>
        </p:txBody>
      </p:sp>
      <p:sp>
        <p:nvSpPr>
          <p:cNvPr id="31" name="Tec valor 6"/>
          <p:cNvSpPr txBox="1"/>
          <p:nvPr/>
        </p:nvSpPr>
        <p:spPr>
          <a:xfrm>
            <a:off x="6766560" y="3995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ESLint + jsx-a11y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Visión de futuro</a:t>
            </a:r>
            <a:endParaRPr lang="en-US" sz="3400" dirty="0"/>
          </a:p>
        </p:txBody>
      </p:sp>
      <p:sp>
        <p:nvSpPr>
          <p:cNvPr id="3" name="Futuro 1"/>
          <p:cNvSpPr/>
          <p:nvPr/>
        </p:nvSpPr>
        <p:spPr>
          <a:xfrm>
            <a:off x="548640" y="132588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o futuro 1 fondo"/>
          <p:cNvSpPr/>
          <p:nvPr/>
        </p:nvSpPr>
        <p:spPr>
          <a:xfrm>
            <a:off x="777240" y="1508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o futuro 1" descr="Icono futur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62379"/>
            <a:ext cx="241402" cy="241402"/>
          </a:xfrm>
          <a:prstGeom prst="rect">
            <a:avLst/>
          </a:prstGeom>
        </p:spPr>
      </p:pic>
      <p:sp>
        <p:nvSpPr>
          <p:cNvPr id="6" name="Futuro título 1"/>
          <p:cNvSpPr txBox="1"/>
          <p:nvPr/>
        </p:nvSpPr>
        <p:spPr>
          <a:xfrm>
            <a:off x="777240" y="2194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Lectura por voz</a:t>
            </a:r>
            <a:endParaRPr lang="en-US" sz="1800" dirty="0"/>
          </a:p>
        </p:txBody>
      </p:sp>
      <p:sp>
        <p:nvSpPr>
          <p:cNvPr id="7" name="Futuro texto 1"/>
          <p:cNvSpPr txBox="1"/>
          <p:nvPr/>
        </p:nvSpPr>
        <p:spPr>
          <a:xfrm>
            <a:off x="777240" y="25603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pasos del ejercicio en voz alta: la primera mejora de accesibilidad.</a:t>
            </a:r>
            <a:endParaRPr lang="en-US" sz="1400" dirty="0"/>
          </a:p>
        </p:txBody>
      </p:sp>
      <p:sp>
        <p:nvSpPr>
          <p:cNvPr id="8" name="Futuro 2"/>
          <p:cNvSpPr/>
          <p:nvPr/>
        </p:nvSpPr>
        <p:spPr>
          <a:xfrm>
            <a:off x="3291840" y="132588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o futuro 2 fondo"/>
          <p:cNvSpPr/>
          <p:nvPr/>
        </p:nvSpPr>
        <p:spPr>
          <a:xfrm>
            <a:off x="3520440" y="1508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o futuro 2" descr="Icono futur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059" y="1662379"/>
            <a:ext cx="241402" cy="241402"/>
          </a:xfrm>
          <a:prstGeom prst="rect">
            <a:avLst/>
          </a:prstGeom>
        </p:spPr>
      </p:pic>
      <p:sp>
        <p:nvSpPr>
          <p:cNvPr id="11" name="Futuro título 2"/>
          <p:cNvSpPr txBox="1"/>
          <p:nvPr/>
        </p:nvSpPr>
        <p:spPr>
          <a:xfrm>
            <a:off x="3520440" y="2194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 Plato</a:t>
            </a:r>
            <a:endParaRPr lang="en-US" sz="1800" dirty="0"/>
          </a:p>
        </p:txBody>
      </p:sp>
      <p:sp>
        <p:nvSpPr>
          <p:cNvPr id="12" name="Futuro texto 2"/>
          <p:cNvSpPr txBox="1"/>
          <p:nvPr/>
        </p:nvSpPr>
        <p:spPr>
          <a:xfrm>
            <a:off x="3520440" y="25603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 nutricional, con base de alimentos y validación profesional.</a:t>
            </a:r>
            <a:endParaRPr lang="en-US" sz="1400" dirty="0"/>
          </a:p>
        </p:txBody>
      </p:sp>
      <p:sp>
        <p:nvSpPr>
          <p:cNvPr id="13" name="Futuro 3"/>
          <p:cNvSpPr/>
          <p:nvPr/>
        </p:nvSpPr>
        <p:spPr>
          <a:xfrm>
            <a:off x="6035040" y="132588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o futuro 3 fondo"/>
          <p:cNvSpPr/>
          <p:nvPr/>
        </p:nvSpPr>
        <p:spPr>
          <a:xfrm>
            <a:off x="6263640" y="1508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o futuro 3" descr="Icono futur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259" y="1662379"/>
            <a:ext cx="241402" cy="241402"/>
          </a:xfrm>
          <a:prstGeom prst="rect">
            <a:avLst/>
          </a:prstGeom>
        </p:spPr>
      </p:pic>
      <p:sp>
        <p:nvSpPr>
          <p:cNvPr id="16" name="Futuro título 3"/>
          <p:cNvSpPr txBox="1"/>
          <p:nvPr/>
        </p:nvSpPr>
        <p:spPr>
          <a:xfrm>
            <a:off x="6263640" y="2194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Reto en Familia</a:t>
            </a:r>
            <a:endParaRPr lang="en-US" sz="1800" dirty="0"/>
          </a:p>
        </p:txBody>
      </p:sp>
      <p:sp>
        <p:nvSpPr>
          <p:cNvPr id="17" name="Futuro texto 3"/>
          <p:cNvSpPr txBox="1"/>
          <p:nvPr/>
        </p:nvSpPr>
        <p:spPr>
          <a:xfrm>
            <a:off x="6263640" y="25603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Desafíos y progreso compartido con la familia.</a:t>
            </a:r>
            <a:endParaRPr lang="en-US" sz="1400" dirty="0"/>
          </a:p>
        </p:txBody>
      </p:sp>
      <p:sp>
        <p:nvSpPr>
          <p:cNvPr id="18" name="Banda futuro"/>
          <p:cNvSpPr/>
          <p:nvPr/>
        </p:nvSpPr>
        <p:spPr>
          <a:xfrm>
            <a:off x="548640" y="3611880"/>
            <a:ext cx="804672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Futuro banda texto"/>
          <p:cNvSpPr txBox="1"/>
          <p:nvPr/>
        </p:nvSpPr>
        <p:spPr>
          <a:xfrm>
            <a:off x="822960" y="365760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Más ejercicios y rutinas,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misma salida segura. Mi Plato y Reto en Familia necesitarán servidor y cuentas.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365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cierre"/>
          <p:cNvSpPr txBox="1"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Preguntas"/>
          <p:cNvSpPr txBox="1"/>
          <p:nvPr/>
        </p:nvSpPr>
        <p:spPr>
          <a:xfrm>
            <a:off x="731520" y="2514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</a:rPr>
              <a:t>¿Preguntas?</a:t>
            </a:r>
            <a:endParaRPr lang="en-US" sz="2800" dirty="0"/>
          </a:p>
        </p:txBody>
      </p:sp>
      <p:sp>
        <p:nvSpPr>
          <p:cNvPr id="4" name="Firma"/>
          <p:cNvSpPr txBox="1"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Vitalis — Mi Rutina · NexoTeam · Isaac, Iker y Enzo</a:t>
            </a:r>
            <a:endParaRPr lang="en-US" sz="1400" dirty="0"/>
          </a:p>
        </p:txBody>
      </p:sp>
      <p:sp>
        <p:nvSpPr>
          <p:cNvPr id="5" name="Tarjeta logo cierre"/>
          <p:cNvSpPr/>
          <p:nvPr/>
        </p:nvSpPr>
        <p:spPr>
          <a:xfrm>
            <a:off x="6309360" y="1097280"/>
            <a:ext cx="2103120" cy="228600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Logo Vitalis cierre" descr="Logotipo de Vitalis Mi Rut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80160"/>
            <a:ext cx="1737360" cy="1719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italis">
  <a:themeElements>
    <a:clrScheme name="Vitalis">
      <a:dk1>
        <a:srgbClr val="141D33"/>
      </a:dk1>
      <a:lt1>
        <a:srgbClr val="FFFFFF"/>
      </a:lt1>
      <a:dk2>
        <a:srgbClr val="16294A"/>
      </a:dk2>
      <a:lt2>
        <a:srgbClr val="FAF7F1"/>
      </a:lt2>
      <a:accent1>
        <a:srgbClr val="B4481A"/>
      </a:accent1>
      <a:accent2>
        <a:srgbClr val="2F4D7D"/>
      </a:accent2>
      <a:accent3>
        <a:srgbClr val="12512A"/>
      </a:accent3>
      <a:accent4>
        <a:srgbClr val="E6F2E9"/>
      </a:accent4>
      <a:accent5>
        <a:srgbClr val="FCEFE3"/>
      </a:accent5>
      <a:accent6>
        <a:srgbClr val="4D566D"/>
      </a:accent6>
      <a:hlink>
        <a:srgbClr val="B4481A"/>
      </a:hlink>
      <a:folHlink>
        <a:srgbClr val="8F3610"/>
      </a:folHlink>
    </a:clrScheme>
    <a:fontScheme name="Vital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Vitalis — Mi Rutina</dc:title>
  <dc:subject>PptxGenJS Presentation</dc:subject>
  <dc:creator>NexoTeam</dc:creator>
  <cp:lastModifiedBy>NexoTeam</cp:lastModifiedBy>
  <cp:revision>1</cp:revision>
  <dcterms:created xsi:type="dcterms:W3CDTF">2026-10-19T09:55:42Z</dcterms:created>
  <dcterms:modified xsi:type="dcterms:W3CDTF">2026-10-19T09:55:42Z</dcterms:modified>
</cp:coreProperties>
</file>