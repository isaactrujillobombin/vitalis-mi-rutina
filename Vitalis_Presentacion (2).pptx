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c3433eb4-9908-5a59-185a-9afe9bf0f37d}">
          <p14:sldIdLst>
            <p14:sldId id="256"/>
            <p14:sldId id="257"/>
            <p14:sldId id="258"/>
          </p14:sldIdLst>
        </p14:section>
        <p14:section name="Solución" id="{7bb32439-32bb-ffc3-0fc3-d59666e050ca}">
          <p14:sldIdLst>
            <p14:sldId id="259"/>
            <p14:sldId id="260"/>
            <p14:sldId id="261"/>
          </p14:sldIdLst>
        </p14:section>
        <p14:section name="Calidad" id="{fec86184-8a38-fa07-8332-fb86eadd66ed}">
          <p14:sldIdLst>
            <p14:sldId id="262"/>
            <p14:sldId id="263"/>
          </p14:sldIdLst>
        </p14:section>
        <p14:section name="Cierre" id="{00b7a560-94fe-1fa6-7635-8451a56976c7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Vitalis — Mi Rutina. Somos NexoTeam: Isaac, Iker y Enzo. Es una app móvil para que personas de 65 a 85 años hagan una sesión guiada y segura de «Levantarse de la silla». El reto del proyecto es la soledad de las personas mayores.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es el desinterés, es el miedo a caerse. Las apps de fitness hablan de calorías y series, y eso no les sirve. Moverse menos lleva a salir menos y a relacionarse menos. Vitalis ataca dos causas del aislamiento: la pérdida de autonomía y la falta de motivos de contacto con la familia.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Nuestra persona de referencia es Rosa, 78 años, vive sola, tiene osteoporosis y sus hijos viven lejos. El segundo usuario es el familiar, que solo recibe un aviso: no usa la app. El objetivo del MVP es muy concreto: que complete y registre una sesión sin ayuda y sin miedo.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completo en cinco pasos. En Inicio ve su sesión del día. En Ejercicio se muestra primero la preparación del espacio y luego los pasos. Al terminar pide confirmación antes de registrar. Se guarda en el móvil y puede avisar a la familia. Y lo más importante: si algo duele, «Me duele» lleva a una pausa que no se registra como completada.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el diseño parte de la usuaria: botones de al menos 48 píxeles, texto de 18, contraste 4,5 a 1 según WCAG. Los estados siempre con icono y texto, nunca solo color. Todo el flujo se puede hacer con teclado y el lenguaje es llano.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servidor, ni cuentas, ni analíticas, ni peticiones a terceros: los registros se guardan en el propio dispositivo. No se guardan nombres, contactos ni datos de salud. Avisar a la familia usa la hoja de compartir del sistema, así que ella elige a quién y nosotros nunca tocamos sus contactos.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Elegimos lo más pequeño que cumple la especificación: una app web para móvil con React y TypeScript, sin servidor. Tres capas: pantallas, lógica con una máquina de estados, y datos detrás de un repositorio, de modo que mañana se podría cambiar localStorage por una API sin tocar las pantallas.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un solo comando, npm run check, se ejecutan lint, tipos, contraste, unitarios y e2e. Son 107 comprobaciones en verde: 51 unitarias y 28 e2e en dos perfiles de móvil, Android e iPhone. La auditoría de accesibilidad con axe no da ninguna violación grave. Cada test lleva en el nombre el ID del requisito que valida.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Hacia dónde puede crecer Vitalis. Primero, la lectura por voz de los pasos. Después Mi Plato, un registro nutricional que necesita validación profesional, y el Reto en Familia, con desafíos y progreso compartido, que requiere servidor y cuentas.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turno de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6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Vitalis — Mi Rutina · NexoTeam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6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640080" y="822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5"/>
                </a:solidFill>
              </a:rPr>
              <a:t>VITALIS</a:t>
            </a:r>
            <a:endParaRPr lang="en-US" sz="16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1234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 Rutina</a:t>
            </a:r>
            <a:endParaRPr lang="en-US" sz="5400" dirty="0"/>
          </a:p>
        </p:txBody>
      </p:sp>
      <p:sp>
        <p:nvSpPr>
          <p:cNvPr id="4" name="Subtítulo"/>
          <p:cNvSpPr txBox="1"/>
          <p:nvPr/>
        </p:nvSpPr>
        <p:spPr>
          <a:xfrm>
            <a:off x="640080" y="2240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Ejercicio guiado y seguro para personas de 65 a 85 años</a:t>
            </a:r>
            <a:endParaRPr lang="en-US" sz="2000" dirty="0"/>
          </a:p>
        </p:txBody>
      </p:sp>
      <p:sp>
        <p:nvSpPr>
          <p:cNvPr id="5" name="Equipo"/>
          <p:cNvSpPr txBox="1"/>
          <p:nvPr/>
        </p:nvSpPr>
        <p:spPr>
          <a:xfrm>
            <a:off x="640080" y="38404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NexoTeam · Isaac, Iker y Enzo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Proyecto interdisciplinar Monlau · 2.º DAM / 2.º DAW · 2026-2027</a:t>
            </a:r>
            <a:endParaRPr lang="en-US" sz="1400" dirty="0"/>
          </a:p>
        </p:txBody>
      </p:sp>
      <p:sp>
        <p:nvSpPr>
          <p:cNvPr id="6" name="Tarjeta logo"/>
          <p:cNvSpPr/>
          <p:nvPr/>
        </p:nvSpPr>
        <p:spPr>
          <a:xfrm>
            <a:off x="5852160" y="822960"/>
            <a:ext cx="2743200" cy="329184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7" name="Logo Vitalis" descr="Logotipo de Vitalis Mi Ruti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35024"/>
            <a:ext cx="2286000" cy="22585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El problema: el miedo a moverse</a:t>
            </a:r>
            <a:endParaRPr lang="en-US" sz="3400" dirty="0"/>
          </a:p>
        </p:txBody>
      </p:sp>
      <p:sp>
        <p:nvSpPr>
          <p:cNvPr id="3" name="Tarjeta 1"/>
          <p:cNvSpPr/>
          <p:nvPr/>
        </p:nvSpPr>
        <p:spPr>
          <a:xfrm>
            <a:off x="548640" y="1325880"/>
            <a:ext cx="23774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o 1 fondo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o 1" descr="Icon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662379"/>
            <a:ext cx="241402" cy="241402"/>
          </a:xfrm>
          <a:prstGeom prst="rect">
            <a:avLst/>
          </a:prstGeom>
        </p:spPr>
      </p:pic>
      <p:sp>
        <p:nvSpPr>
          <p:cNvPr id="6" name="Título 1"/>
          <p:cNvSpPr txBox="1"/>
          <p:nvPr/>
        </p:nvSpPr>
        <p:spPr>
          <a:xfrm>
            <a:off x="777240" y="2194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Miedo a caerse</a:t>
            </a:r>
            <a:endParaRPr lang="en-US" sz="1800" dirty="0"/>
          </a:p>
        </p:txBody>
      </p:sp>
      <p:sp>
        <p:nvSpPr>
          <p:cNvPr id="7" name="Texto 1"/>
          <p:cNvSpPr txBox="1"/>
          <p:nvPr/>
        </p:nvSpPr>
        <p:spPr>
          <a:xfrm>
            <a:off x="777240" y="25603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abandona el ejercicio por miedo a lesionarse, no por desinterés.</a:t>
            </a:r>
            <a:endParaRPr lang="en-US" sz="1400" dirty="0"/>
          </a:p>
        </p:txBody>
      </p:sp>
      <p:pic>
        <p:nvPicPr>
          <p:cNvPr id="8" name="Flecha 1" descr="siguien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2148840"/>
            <a:ext cx="237744" cy="237744"/>
          </a:xfrm>
          <a:prstGeom prst="rect">
            <a:avLst/>
          </a:prstGeom>
        </p:spPr>
      </p:pic>
      <p:sp>
        <p:nvSpPr>
          <p:cNvPr id="9" name="Tarjeta 2"/>
          <p:cNvSpPr/>
          <p:nvPr/>
        </p:nvSpPr>
        <p:spPr>
          <a:xfrm>
            <a:off x="3383280" y="1325880"/>
            <a:ext cx="23774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Icono 2 fondo"/>
          <p:cNvSpPr/>
          <p:nvPr/>
        </p:nvSpPr>
        <p:spPr>
          <a:xfrm>
            <a:off x="361188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o 2" descr="Icono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499" y="1662379"/>
            <a:ext cx="241402" cy="241402"/>
          </a:xfrm>
          <a:prstGeom prst="rect">
            <a:avLst/>
          </a:prstGeom>
        </p:spPr>
      </p:pic>
      <p:sp>
        <p:nvSpPr>
          <p:cNvPr id="12" name="Título 2"/>
          <p:cNvSpPr txBox="1"/>
          <p:nvPr/>
        </p:nvSpPr>
        <p:spPr>
          <a:xfrm>
            <a:off x="3611880" y="2194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Menos movimiento</a:t>
            </a:r>
            <a:endParaRPr lang="en-US" sz="1800" dirty="0"/>
          </a:p>
        </p:txBody>
      </p:sp>
      <p:sp>
        <p:nvSpPr>
          <p:cNvPr id="13" name="Texto 2"/>
          <p:cNvSpPr txBox="1"/>
          <p:nvPr/>
        </p:nvSpPr>
        <p:spPr>
          <a:xfrm>
            <a:off x="3611880" y="25603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pierde fuerza y masa ósea más rápido sin actividad dirigida.</a:t>
            </a:r>
            <a:endParaRPr lang="en-US" sz="1400" dirty="0"/>
          </a:p>
        </p:txBody>
      </p:sp>
      <p:pic>
        <p:nvPicPr>
          <p:cNvPr id="14" name="Flecha 2" descr="siguien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2148840"/>
            <a:ext cx="237744" cy="237744"/>
          </a:xfrm>
          <a:prstGeom prst="rect">
            <a:avLst/>
          </a:prstGeom>
        </p:spPr>
      </p:pic>
      <p:sp>
        <p:nvSpPr>
          <p:cNvPr id="15" name="Tarjeta 3"/>
          <p:cNvSpPr/>
          <p:nvPr/>
        </p:nvSpPr>
        <p:spPr>
          <a:xfrm>
            <a:off x="6217920" y="1325880"/>
            <a:ext cx="23774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o 3 fondo"/>
          <p:cNvSpPr/>
          <p:nvPr/>
        </p:nvSpPr>
        <p:spPr>
          <a:xfrm>
            <a:off x="644652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o 3" descr="Icono 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139" y="1662379"/>
            <a:ext cx="241402" cy="241402"/>
          </a:xfrm>
          <a:prstGeom prst="rect">
            <a:avLst/>
          </a:prstGeom>
        </p:spPr>
      </p:pic>
      <p:sp>
        <p:nvSpPr>
          <p:cNvPr id="18" name="Título 3"/>
          <p:cNvSpPr txBox="1"/>
          <p:nvPr/>
        </p:nvSpPr>
        <p:spPr>
          <a:xfrm>
            <a:off x="6446520" y="2194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Menos vida social</a:t>
            </a:r>
            <a:endParaRPr lang="en-US" sz="1800" dirty="0"/>
          </a:p>
        </p:txBody>
      </p:sp>
      <p:sp>
        <p:nvSpPr>
          <p:cNvPr id="19" name="Texto 3"/>
          <p:cNvSpPr txBox="1"/>
          <p:nvPr/>
        </p:nvSpPr>
        <p:spPr>
          <a:xfrm>
            <a:off x="6446520" y="25603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Quien no se siente segura sale menos de casa y se relaciona menos.</a:t>
            </a:r>
            <a:endParaRPr lang="en-US" sz="1400" dirty="0"/>
          </a:p>
        </p:txBody>
      </p:sp>
      <p:sp>
        <p:nvSpPr>
          <p:cNvPr id="20" name="Banda soluciones"/>
          <p:cNvSpPr/>
          <p:nvPr/>
        </p:nvSpPr>
        <p:spPr>
          <a:xfrm>
            <a:off x="548640" y="3611880"/>
            <a:ext cx="804672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Banda título"/>
          <p:cNvSpPr txBox="1"/>
          <p:nvPr/>
        </p:nvSpPr>
        <p:spPr>
          <a:xfrm>
            <a:off x="822960" y="36758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Vitalis ataca dos causas del aislamiento</a:t>
            </a:r>
            <a:endParaRPr lang="en-US" sz="1400" dirty="0"/>
          </a:p>
        </p:txBody>
      </p:sp>
      <p:sp>
        <p:nvSpPr>
          <p:cNvPr id="22" name="Causa 1"/>
          <p:cNvSpPr txBox="1"/>
          <p:nvPr/>
        </p:nvSpPr>
        <p:spPr>
          <a:xfrm>
            <a:off x="82296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Pérdida de autonomía: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una sesión guiada con salida segura.</a:t>
            </a:r>
            <a:endParaRPr lang="en-US" sz="1400" dirty="0"/>
          </a:p>
        </p:txBody>
      </p:sp>
      <p:sp>
        <p:nvSpPr>
          <p:cNvPr id="23" name="Causa 2"/>
          <p:cNvSpPr txBox="1"/>
          <p:nvPr/>
        </p:nvSpPr>
        <p:spPr>
          <a:xfrm>
            <a:off x="466344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Falta de motivos de contacto: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«Avisar a la familia».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Para quién: Rosa, 78 años</a:t>
            </a:r>
            <a:endParaRPr lang="en-US" sz="3400" dirty="0"/>
          </a:p>
        </p:txBody>
      </p:sp>
      <p:sp>
        <p:nvSpPr>
          <p:cNvPr id="3" name="Tarjeta usuaria"/>
          <p:cNvSpPr/>
          <p:nvPr/>
        </p:nvSpPr>
        <p:spPr>
          <a:xfrm>
            <a:off x="548640" y="1325880"/>
            <a:ext cx="448056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Etiqueta usuaria"/>
          <p:cNvSpPr txBox="1"/>
          <p:nvPr/>
        </p:nvSpPr>
        <p:spPr>
          <a:xfrm>
            <a:off x="822960" y="14813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USUARIA PRINCIPAL</a:t>
            </a:r>
            <a:endParaRPr lang="en-US" sz="1100" dirty="0"/>
          </a:p>
        </p:txBody>
      </p:sp>
      <p:sp>
        <p:nvSpPr>
          <p:cNvPr id="5" name="Lista usuaria"/>
          <p:cNvSpPr txBox="1"/>
          <p:nvPr/>
        </p:nvSpPr>
        <p:spPr>
          <a:xfrm>
            <a:off x="822960" y="1783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Vive sola y tiene osteoporosis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Sus hijos viven fuera de la ciudad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Poca experiencia digital y miedo a lesionarse</a:t>
            </a:r>
            <a:endParaRPr lang="en-US" sz="1400" dirty="0"/>
          </a:p>
        </p:txBody>
      </p:sp>
      <p:sp>
        <p:nvSpPr>
          <p:cNvPr id="6" name="Cita"/>
          <p:cNvSpPr txBox="1"/>
          <p:nvPr/>
        </p:nvSpPr>
        <p:spPr>
          <a:xfrm>
            <a:off x="822960" y="2788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«No necesito una app que me trate como si tuviera veinte años.»</a:t>
            </a:r>
            <a:endParaRPr lang="en-US" sz="1500" dirty="0"/>
          </a:p>
        </p:txBody>
      </p:sp>
      <p:sp>
        <p:nvSpPr>
          <p:cNvPr id="7" name="Tarjeta familiar"/>
          <p:cNvSpPr/>
          <p:nvPr/>
        </p:nvSpPr>
        <p:spPr>
          <a:xfrm>
            <a:off x="5212080" y="1325880"/>
            <a:ext cx="338328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Etiqueta familiar"/>
          <p:cNvSpPr txBox="1"/>
          <p:nvPr/>
        </p:nvSpPr>
        <p:spPr>
          <a:xfrm>
            <a:off x="5440680" y="14813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FAMILIAR (CUIDADOR)</a:t>
            </a:r>
            <a:endParaRPr lang="en-US" sz="1100" dirty="0"/>
          </a:p>
        </p:txBody>
      </p:sp>
      <p:sp>
        <p:nvSpPr>
          <p:cNvPr id="9" name="Texto familiar"/>
          <p:cNvSpPr txBox="1"/>
          <p:nvPr/>
        </p:nvSpPr>
        <p:spPr>
          <a:xfrm>
            <a:off x="5440680" y="17830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Hijos e hijas de 40 a 55 años que viven lejos.</a:t>
            </a:r>
            <a:endParaRPr lang="en-US" sz="1400" dirty="0"/>
          </a:p>
        </p:txBody>
      </p:sp>
      <p:sp>
        <p:nvSpPr>
          <p:cNvPr id="10" name="Texto familiar 2"/>
          <p:cNvSpPr txBox="1"/>
          <p:nvPr/>
        </p:nvSpPr>
        <p:spPr>
          <a:xfrm>
            <a:off x="544068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Solo recibe el aviso por el canal que elija ella. No usa la app.</a:t>
            </a:r>
            <a:endParaRPr lang="en-US" sz="1400" dirty="0"/>
          </a:p>
        </p:txBody>
      </p:sp>
      <p:sp>
        <p:nvSpPr>
          <p:cNvPr id="11" name="Banda objetivo"/>
          <p:cNvSpPr/>
          <p:nvPr/>
        </p:nvSpPr>
        <p:spPr>
          <a:xfrm>
            <a:off x="548640" y="3657600"/>
            <a:ext cx="8046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Objetivo"/>
          <p:cNvSpPr txBox="1"/>
          <p:nvPr/>
        </p:nvSpPr>
        <p:spPr>
          <a:xfrm>
            <a:off x="822960" y="37033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Objetivo del MVP: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que una persona mayor complete y registre, sin ayuda y sin miedo, una sesión breve de «Levantarse de la silla» (8 repeticiones + 30 s de descanso).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Cómo funciona</a:t>
            </a:r>
            <a:endParaRPr lang="en-US" sz="3400" dirty="0"/>
          </a:p>
        </p:txBody>
      </p:sp>
      <p:sp>
        <p:nvSpPr>
          <p:cNvPr id="3" name="Paso 1"/>
          <p:cNvSpPr/>
          <p:nvPr/>
        </p:nvSpPr>
        <p:spPr>
          <a:xfrm>
            <a:off x="548640" y="1280160"/>
            <a:ext cx="1463040" cy="201168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úmero 1"/>
          <p:cNvSpPr/>
          <p:nvPr/>
        </p:nvSpPr>
        <p:spPr>
          <a:xfrm>
            <a:off x="68580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úmero texto 1"/>
          <p:cNvSpPr txBox="1"/>
          <p:nvPr/>
        </p:nvSpPr>
        <p:spPr>
          <a:xfrm>
            <a:off x="6858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aso título 1"/>
          <p:cNvSpPr txBox="1"/>
          <p:nvPr/>
        </p:nvSpPr>
        <p:spPr>
          <a:xfrm>
            <a:off x="685800" y="1965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Inicio</a:t>
            </a:r>
            <a:endParaRPr lang="en-US" sz="1600" dirty="0"/>
          </a:p>
        </p:txBody>
      </p:sp>
      <p:sp>
        <p:nvSpPr>
          <p:cNvPr id="7" name="Paso texto 1"/>
          <p:cNvSpPr txBox="1"/>
          <p:nvPr/>
        </p:nvSpPr>
        <p:spPr>
          <a:xfrm>
            <a:off x="685800" y="23317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 su sesión del día: Pendiente o Hecha hoy.</a:t>
            </a:r>
            <a:endParaRPr lang="en-US" sz="1400" dirty="0"/>
          </a:p>
        </p:txBody>
      </p:sp>
      <p:sp>
        <p:nvSpPr>
          <p:cNvPr id="8" name="Paso 2"/>
          <p:cNvSpPr/>
          <p:nvPr/>
        </p:nvSpPr>
        <p:spPr>
          <a:xfrm>
            <a:off x="2194560" y="1280160"/>
            <a:ext cx="1463040" cy="201168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Número 2"/>
          <p:cNvSpPr/>
          <p:nvPr/>
        </p:nvSpPr>
        <p:spPr>
          <a:xfrm>
            <a:off x="233172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úmero texto 2"/>
          <p:cNvSpPr txBox="1"/>
          <p:nvPr/>
        </p:nvSpPr>
        <p:spPr>
          <a:xfrm>
            <a:off x="23317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Paso título 2"/>
          <p:cNvSpPr txBox="1"/>
          <p:nvPr/>
        </p:nvSpPr>
        <p:spPr>
          <a:xfrm>
            <a:off x="2331720" y="1965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Ejercicio</a:t>
            </a:r>
            <a:endParaRPr lang="en-US" sz="1600" dirty="0"/>
          </a:p>
        </p:txBody>
      </p:sp>
      <p:sp>
        <p:nvSpPr>
          <p:cNvPr id="12" name="Paso texto 2"/>
          <p:cNvSpPr txBox="1"/>
          <p:nvPr/>
        </p:nvSpPr>
        <p:spPr>
          <a:xfrm>
            <a:off x="2331720" y="23317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Prepara el espacio y sigue los pasos escritos.</a:t>
            </a:r>
            <a:endParaRPr lang="en-US" sz="1400" dirty="0"/>
          </a:p>
        </p:txBody>
      </p:sp>
      <p:sp>
        <p:nvSpPr>
          <p:cNvPr id="13" name="Paso 3"/>
          <p:cNvSpPr/>
          <p:nvPr/>
        </p:nvSpPr>
        <p:spPr>
          <a:xfrm>
            <a:off x="3840480" y="1280160"/>
            <a:ext cx="1463040" cy="201168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Número 3"/>
          <p:cNvSpPr/>
          <p:nvPr/>
        </p:nvSpPr>
        <p:spPr>
          <a:xfrm>
            <a:off x="397764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Número texto 3"/>
          <p:cNvSpPr txBox="1"/>
          <p:nvPr/>
        </p:nvSpPr>
        <p:spPr>
          <a:xfrm>
            <a:off x="39776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Paso título 3"/>
          <p:cNvSpPr txBox="1"/>
          <p:nvPr/>
        </p:nvSpPr>
        <p:spPr>
          <a:xfrm>
            <a:off x="3977640" y="1965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Confirmar</a:t>
            </a:r>
            <a:endParaRPr lang="en-US" sz="1600" dirty="0"/>
          </a:p>
        </p:txBody>
      </p:sp>
      <p:sp>
        <p:nvSpPr>
          <p:cNvPr id="17" name="Paso texto 3"/>
          <p:cNvSpPr txBox="1"/>
          <p:nvPr/>
        </p:nvSpPr>
        <p:spPr>
          <a:xfrm>
            <a:off x="3977640" y="23317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«Terminar ejercicio» pide confirmación explícita.</a:t>
            </a:r>
            <a:endParaRPr lang="en-US" sz="1400" dirty="0"/>
          </a:p>
        </p:txBody>
      </p:sp>
      <p:sp>
        <p:nvSpPr>
          <p:cNvPr id="18" name="Paso 4"/>
          <p:cNvSpPr/>
          <p:nvPr/>
        </p:nvSpPr>
        <p:spPr>
          <a:xfrm>
            <a:off x="5486400" y="1280160"/>
            <a:ext cx="1463040" cy="201168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Número 4"/>
          <p:cNvSpPr/>
          <p:nvPr/>
        </p:nvSpPr>
        <p:spPr>
          <a:xfrm>
            <a:off x="562356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Número texto 4"/>
          <p:cNvSpPr txBox="1"/>
          <p:nvPr/>
        </p:nvSpPr>
        <p:spPr>
          <a:xfrm>
            <a:off x="56235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Paso título 4"/>
          <p:cNvSpPr txBox="1"/>
          <p:nvPr/>
        </p:nvSpPr>
        <p:spPr>
          <a:xfrm>
            <a:off x="5623560" y="1965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Registrada</a:t>
            </a:r>
            <a:endParaRPr lang="en-US" sz="1600" dirty="0"/>
          </a:p>
        </p:txBody>
      </p:sp>
      <p:sp>
        <p:nvSpPr>
          <p:cNvPr id="22" name="Paso texto 4"/>
          <p:cNvSpPr txBox="1"/>
          <p:nvPr/>
        </p:nvSpPr>
        <p:spPr>
          <a:xfrm>
            <a:off x="5623560" y="23317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guarda en su móvil con fecha y hora.</a:t>
            </a:r>
            <a:endParaRPr lang="en-US" sz="1400" dirty="0"/>
          </a:p>
        </p:txBody>
      </p:sp>
      <p:sp>
        <p:nvSpPr>
          <p:cNvPr id="23" name="Paso 5"/>
          <p:cNvSpPr/>
          <p:nvPr/>
        </p:nvSpPr>
        <p:spPr>
          <a:xfrm>
            <a:off x="7132320" y="1280160"/>
            <a:ext cx="1463040" cy="201168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Número 5"/>
          <p:cNvSpPr/>
          <p:nvPr/>
        </p:nvSpPr>
        <p:spPr>
          <a:xfrm>
            <a:off x="726948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Número texto 5"/>
          <p:cNvSpPr txBox="1"/>
          <p:nvPr/>
        </p:nvSpPr>
        <p:spPr>
          <a:xfrm>
            <a:off x="72694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Paso título 5"/>
          <p:cNvSpPr txBox="1"/>
          <p:nvPr/>
        </p:nvSpPr>
        <p:spPr>
          <a:xfrm>
            <a:off x="7269480" y="1965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Avisar</a:t>
            </a:r>
            <a:endParaRPr lang="en-US" sz="1600" dirty="0"/>
          </a:p>
        </p:txBody>
      </p:sp>
      <p:sp>
        <p:nvSpPr>
          <p:cNvPr id="27" name="Paso texto 5"/>
          <p:cNvSpPr txBox="1"/>
          <p:nvPr/>
        </p:nvSpPr>
        <p:spPr>
          <a:xfrm>
            <a:off x="7269480" y="23317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Comparte con su familia con un toque.</a:t>
            </a:r>
            <a:endParaRPr lang="en-US" sz="1400" dirty="0"/>
          </a:p>
        </p:txBody>
      </p:sp>
      <p:sp>
        <p:nvSpPr>
          <p:cNvPr id="28" name="Banda salida segura"/>
          <p:cNvSpPr/>
          <p:nvPr/>
        </p:nvSpPr>
        <p:spPr>
          <a:xfrm>
            <a:off x="548640" y="3520440"/>
            <a:ext cx="8046720" cy="1051560"/>
          </a:xfrm>
          <a:prstGeom prst="roundRect">
            <a:avLst>
              <a:gd name="adj" fmla="val 10435"/>
            </a:avLst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cono salida segura fondo"/>
          <p:cNvSpPr/>
          <p:nvPr/>
        </p:nvSpPr>
        <p:spPr>
          <a:xfrm>
            <a:off x="777240" y="376732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o salida segura" descr="Icono salida seg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3920947"/>
            <a:ext cx="241402" cy="241402"/>
          </a:xfrm>
          <a:prstGeom prst="rect">
            <a:avLst/>
          </a:prstGeom>
        </p:spPr>
      </p:pic>
      <p:sp>
        <p:nvSpPr>
          <p:cNvPr id="31" name="Salida título"/>
          <p:cNvSpPr txBox="1"/>
          <p:nvPr/>
        </p:nvSpPr>
        <p:spPr>
          <a:xfrm>
            <a:off x="1554480" y="36576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3707"/>
                </a:solidFill>
              </a:rPr>
              <a:t>Salida segura: «Me duele»</a:t>
            </a:r>
            <a:endParaRPr lang="en-US" sz="1800" dirty="0"/>
          </a:p>
        </p:txBody>
      </p:sp>
      <p:sp>
        <p:nvSpPr>
          <p:cNvPr id="32" name="Salida texto"/>
          <p:cNvSpPr txBox="1"/>
          <p:nvPr/>
        </p:nvSpPr>
        <p:spPr>
          <a:xfrm>
            <a:off x="1554480" y="40233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Aviso «Para el ejercicio» → «Pausar sesión» → «No registrada como completada». Nunca cuenta como sesión hecha.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Diseñada para personas mayores</a:t>
            </a:r>
            <a:endParaRPr lang="en-US" sz="3400" dirty="0"/>
          </a:p>
        </p:txBody>
      </p:sp>
      <p:sp>
        <p:nvSpPr>
          <p:cNvPr id="3" name="Dato 1"/>
          <p:cNvSpPr/>
          <p:nvPr/>
        </p:nvSpPr>
        <p:spPr>
          <a:xfrm>
            <a:off x="54864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Cifra 1"/>
          <p:cNvSpPr txBox="1"/>
          <p:nvPr/>
        </p:nvSpPr>
        <p:spPr>
          <a:xfrm>
            <a:off x="777240" y="1463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px</a:t>
            </a:r>
            <a:endParaRPr lang="en-US" sz="4000" dirty="0"/>
          </a:p>
        </p:txBody>
      </p:sp>
      <p:sp>
        <p:nvSpPr>
          <p:cNvPr id="5" name="Cifra texto 1"/>
          <p:cNvSpPr txBox="1"/>
          <p:nvPr/>
        </p:nvSpPr>
        <p:spPr>
          <a:xfrm>
            <a:off x="77724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Zona pulsable mínima</a:t>
            </a:r>
            <a:endParaRPr lang="en-US" sz="1400" dirty="0"/>
          </a:p>
        </p:txBody>
      </p:sp>
      <p:sp>
        <p:nvSpPr>
          <p:cNvPr id="6" name="Dato 2"/>
          <p:cNvSpPr/>
          <p:nvPr/>
        </p:nvSpPr>
        <p:spPr>
          <a:xfrm>
            <a:off x="329184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Cifra 2"/>
          <p:cNvSpPr txBox="1"/>
          <p:nvPr/>
        </p:nvSpPr>
        <p:spPr>
          <a:xfrm>
            <a:off x="3520440" y="1463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px</a:t>
            </a:r>
            <a:endParaRPr lang="en-US" sz="4000" dirty="0"/>
          </a:p>
        </p:txBody>
      </p:sp>
      <p:sp>
        <p:nvSpPr>
          <p:cNvPr id="8" name="Cifra texto 2"/>
          <p:cNvSpPr txBox="1"/>
          <p:nvPr/>
        </p:nvSpPr>
        <p:spPr>
          <a:xfrm>
            <a:off x="352044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Texto de cuerpo; títulos de 24 px</a:t>
            </a:r>
            <a:endParaRPr lang="en-US" sz="1400" dirty="0"/>
          </a:p>
        </p:txBody>
      </p:sp>
      <p:sp>
        <p:nvSpPr>
          <p:cNvPr id="9" name="Dato 3"/>
          <p:cNvSpPr/>
          <p:nvPr/>
        </p:nvSpPr>
        <p:spPr>
          <a:xfrm>
            <a:off x="603504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ifra 3"/>
          <p:cNvSpPr txBox="1"/>
          <p:nvPr/>
        </p:nvSpPr>
        <p:spPr>
          <a:xfrm>
            <a:off x="6263640" y="1463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 : 1</a:t>
            </a:r>
            <a:endParaRPr lang="en-US" sz="4000" dirty="0"/>
          </a:p>
        </p:txBody>
      </p:sp>
      <p:sp>
        <p:nvSpPr>
          <p:cNvPr id="11" name="Cifra texto 3"/>
          <p:cNvSpPr txBox="1"/>
          <p:nvPr/>
        </p:nvSpPr>
        <p:spPr>
          <a:xfrm>
            <a:off x="626364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Contraste mínimo (WCAG 2.2 AA)</a:t>
            </a:r>
            <a:endParaRPr lang="en-US" sz="1400" dirty="0"/>
          </a:p>
        </p:txBody>
      </p:sp>
      <p:sp>
        <p:nvSpPr>
          <p:cNvPr id="12" name="Panel accesibilidad"/>
          <p:cNvSpPr/>
          <p:nvPr/>
        </p:nvSpPr>
        <p:spPr>
          <a:xfrm>
            <a:off x="548640" y="3108960"/>
            <a:ext cx="80467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Check 1" descr="comprob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91840"/>
            <a:ext cx="274320" cy="274320"/>
          </a:xfrm>
          <a:prstGeom prst="rect">
            <a:avLst/>
          </a:prstGeom>
        </p:spPr>
      </p:pic>
      <p:sp>
        <p:nvSpPr>
          <p:cNvPr id="14" name="Punto título 1"/>
          <p:cNvSpPr txBox="1"/>
          <p:nvPr/>
        </p:nvSpPr>
        <p:spPr>
          <a:xfrm>
            <a:off x="123444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Icono y texto</a:t>
            </a:r>
            <a:endParaRPr lang="en-US" sz="1600" dirty="0"/>
          </a:p>
        </p:txBody>
      </p:sp>
      <p:sp>
        <p:nvSpPr>
          <p:cNvPr id="15" name="Punto texto 1"/>
          <p:cNvSpPr txBox="1"/>
          <p:nvPr/>
        </p:nvSpPr>
        <p:spPr>
          <a:xfrm>
            <a:off x="822960" y="3657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Ningún estado se comunica solo con color.</a:t>
            </a:r>
            <a:endParaRPr lang="en-US" sz="1400" dirty="0"/>
          </a:p>
        </p:txBody>
      </p:sp>
      <p:pic>
        <p:nvPicPr>
          <p:cNvPr id="16" name="Check 2" descr="comprob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291840"/>
            <a:ext cx="274320" cy="274320"/>
          </a:xfrm>
          <a:prstGeom prst="rect">
            <a:avLst/>
          </a:prstGeom>
        </p:spPr>
      </p:pic>
      <p:sp>
        <p:nvSpPr>
          <p:cNvPr id="17" name="Punto título 2"/>
          <p:cNvSpPr txBox="1"/>
          <p:nvPr/>
        </p:nvSpPr>
        <p:spPr>
          <a:xfrm>
            <a:off x="384048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Solo teclado</a:t>
            </a:r>
            <a:endParaRPr lang="en-US" sz="1600" dirty="0"/>
          </a:p>
        </p:txBody>
      </p:sp>
      <p:sp>
        <p:nvSpPr>
          <p:cNvPr id="18" name="Punto texto 2"/>
          <p:cNvSpPr txBox="1"/>
          <p:nvPr/>
        </p:nvSpPr>
        <p:spPr>
          <a:xfrm>
            <a:off x="3429000" y="3657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Todo el flujo se completa sin ratón; el foco es visible.</a:t>
            </a:r>
            <a:endParaRPr lang="en-US" sz="1400" dirty="0"/>
          </a:p>
        </p:txBody>
      </p:sp>
      <p:pic>
        <p:nvPicPr>
          <p:cNvPr id="19" name="Check 3" descr="comproba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291840"/>
            <a:ext cx="274320" cy="274320"/>
          </a:xfrm>
          <a:prstGeom prst="rect">
            <a:avLst/>
          </a:prstGeom>
        </p:spPr>
      </p:pic>
      <p:sp>
        <p:nvSpPr>
          <p:cNvPr id="20" name="Punto título 3"/>
          <p:cNvSpPr txBox="1"/>
          <p:nvPr/>
        </p:nvSpPr>
        <p:spPr>
          <a:xfrm>
            <a:off x="644652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Lenguaje llano</a:t>
            </a:r>
            <a:endParaRPr lang="en-US" sz="1600" dirty="0"/>
          </a:p>
        </p:txBody>
      </p:sp>
      <p:sp>
        <p:nvSpPr>
          <p:cNvPr id="21" name="Punto texto 3"/>
          <p:cNvSpPr txBox="1"/>
          <p:nvPr/>
        </p:nvSpPr>
        <p:spPr>
          <a:xfrm>
            <a:off x="6035040" y="3657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Frases cortas, sin «series» ni «reps».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Privacidad: todo se queda en el móvil</a:t>
            </a:r>
            <a:endParaRPr lang="en-US" sz="3400" dirty="0"/>
          </a:p>
        </p:txBody>
      </p:sp>
      <p:sp>
        <p:nvSpPr>
          <p:cNvPr id="3" name="Cero 1"/>
          <p:cNvSpPr/>
          <p:nvPr/>
        </p:nvSpPr>
        <p:spPr>
          <a:xfrm>
            <a:off x="548640" y="1325880"/>
            <a:ext cx="201168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Cero cifra 1"/>
          <p:cNvSpPr txBox="1"/>
          <p:nvPr/>
        </p:nvSpPr>
        <p:spPr>
          <a:xfrm>
            <a:off x="777240" y="143560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5" name="Cero texto 1"/>
          <p:cNvSpPr txBox="1"/>
          <p:nvPr/>
        </p:nvSpPr>
        <p:spPr>
          <a:xfrm>
            <a:off x="777240" y="2194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servidores</a:t>
            </a:r>
            <a:endParaRPr lang="en-US" sz="1400" dirty="0"/>
          </a:p>
        </p:txBody>
      </p:sp>
      <p:sp>
        <p:nvSpPr>
          <p:cNvPr id="6" name="Cero 2"/>
          <p:cNvSpPr/>
          <p:nvPr/>
        </p:nvSpPr>
        <p:spPr>
          <a:xfrm>
            <a:off x="2743200" y="1325880"/>
            <a:ext cx="201168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Cero cifra 2"/>
          <p:cNvSpPr txBox="1"/>
          <p:nvPr/>
        </p:nvSpPr>
        <p:spPr>
          <a:xfrm>
            <a:off x="2971800" y="143560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8" name="Cero texto 2"/>
          <p:cNvSpPr txBox="1"/>
          <p:nvPr/>
        </p:nvSpPr>
        <p:spPr>
          <a:xfrm>
            <a:off x="2971800" y="2194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cuentas</a:t>
            </a:r>
            <a:endParaRPr lang="en-US" sz="1400" dirty="0"/>
          </a:p>
        </p:txBody>
      </p:sp>
      <p:sp>
        <p:nvSpPr>
          <p:cNvPr id="9" name="Cero 3"/>
          <p:cNvSpPr/>
          <p:nvPr/>
        </p:nvSpPr>
        <p:spPr>
          <a:xfrm>
            <a:off x="548640" y="2926080"/>
            <a:ext cx="201168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ero cifra 3"/>
          <p:cNvSpPr txBox="1"/>
          <p:nvPr/>
        </p:nvSpPr>
        <p:spPr>
          <a:xfrm>
            <a:off x="777240" y="303580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1" name="Cero texto 3"/>
          <p:cNvSpPr txBox="1"/>
          <p:nvPr/>
        </p:nvSpPr>
        <p:spPr>
          <a:xfrm>
            <a:off x="77724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analíticas</a:t>
            </a:r>
            <a:endParaRPr lang="en-US" sz="1400" dirty="0"/>
          </a:p>
        </p:txBody>
      </p:sp>
      <p:sp>
        <p:nvSpPr>
          <p:cNvPr id="12" name="Cero 4"/>
          <p:cNvSpPr/>
          <p:nvPr/>
        </p:nvSpPr>
        <p:spPr>
          <a:xfrm>
            <a:off x="2743200" y="2926080"/>
            <a:ext cx="201168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Cero cifra 4"/>
          <p:cNvSpPr txBox="1"/>
          <p:nvPr/>
        </p:nvSpPr>
        <p:spPr>
          <a:xfrm>
            <a:off x="2971800" y="303580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4" name="Cero texto 4"/>
          <p:cNvSpPr txBox="1"/>
          <p:nvPr/>
        </p:nvSpPr>
        <p:spPr>
          <a:xfrm>
            <a:off x="297180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peticiones a terceros</a:t>
            </a:r>
            <a:endParaRPr lang="en-US" sz="1400" dirty="0"/>
          </a:p>
        </p:txBody>
      </p:sp>
      <p:sp>
        <p:nvSpPr>
          <p:cNvPr id="15" name="Tarjeta familia"/>
          <p:cNvSpPr/>
          <p:nvPr/>
        </p:nvSpPr>
        <p:spPr>
          <a:xfrm>
            <a:off x="5120640" y="132588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o compartir fondo"/>
          <p:cNvSpPr/>
          <p:nvPr/>
        </p:nvSpPr>
        <p:spPr>
          <a:xfrm>
            <a:off x="539496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o compartir" descr="Icono compart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8579" y="1708099"/>
            <a:ext cx="241402" cy="241402"/>
          </a:xfrm>
          <a:prstGeom prst="rect">
            <a:avLst/>
          </a:prstGeom>
        </p:spPr>
      </p:pic>
      <p:sp>
        <p:nvSpPr>
          <p:cNvPr id="18" name="Familia título"/>
          <p:cNvSpPr txBox="1"/>
          <p:nvPr/>
        </p:nvSpPr>
        <p:spPr>
          <a:xfrm>
            <a:off x="539496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Avisar a la familia</a:t>
            </a:r>
            <a:endParaRPr lang="en-US" sz="2000" dirty="0"/>
          </a:p>
        </p:txBody>
      </p:sp>
      <p:sp>
        <p:nvSpPr>
          <p:cNvPr id="19" name="Familia texto"/>
          <p:cNvSpPr txBox="1"/>
          <p:nvPr/>
        </p:nvSpPr>
        <p:spPr>
          <a:xfrm>
            <a:off x="539496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Abre la hoja de compartir del móvil. Ella elige a quién enviarlo: la app no lee ni guarda contactos.</a:t>
            </a:r>
            <a:endParaRPr lang="en-US" sz="1400" dirty="0"/>
          </a:p>
        </p:txBody>
      </p:sp>
      <p:sp>
        <p:nvSpPr>
          <p:cNvPr id="20" name="Familia mensaje"/>
          <p:cNvSpPr txBox="1"/>
          <p:nvPr/>
        </p:nvSpPr>
        <p:spPr>
          <a:xfrm>
            <a:off x="5394960" y="3611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«Hoy he hecho mi rutina de Vitalis: Levantarse de la silla, 8 repeticiones.»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Tecnología y arquitectura</a:t>
            </a:r>
            <a:endParaRPr lang="en-US" sz="3400" dirty="0"/>
          </a:p>
        </p:txBody>
      </p:sp>
      <p:sp>
        <p:nvSpPr>
          <p:cNvPr id="3" name="Capa 1"/>
          <p:cNvSpPr/>
          <p:nvPr/>
        </p:nvSpPr>
        <p:spPr>
          <a:xfrm>
            <a:off x="548640" y="1325880"/>
            <a:ext cx="36576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Capa título 1"/>
          <p:cNvSpPr txBox="1"/>
          <p:nvPr/>
        </p:nvSpPr>
        <p:spPr>
          <a:xfrm>
            <a:off x="777240" y="1435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Pantallas</a:t>
            </a:r>
            <a:endParaRPr lang="en-US" sz="1600" dirty="0"/>
          </a:p>
        </p:txBody>
      </p:sp>
      <p:sp>
        <p:nvSpPr>
          <p:cNvPr id="5" name="Capa texto 1"/>
          <p:cNvSpPr txBox="1"/>
          <p:nvPr/>
        </p:nvSpPr>
        <p:spPr>
          <a:xfrm>
            <a:off x="777240" y="1755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Inicio · Ejercicio · Registrada · Pausada</a:t>
            </a:r>
            <a:endParaRPr lang="en-US" sz="1400" dirty="0"/>
          </a:p>
        </p:txBody>
      </p:sp>
      <p:sp>
        <p:nvSpPr>
          <p:cNvPr id="6" name="Flecha capa 1"/>
          <p:cNvSpPr/>
          <p:nvPr/>
        </p:nvSpPr>
        <p:spPr>
          <a:xfrm>
            <a:off x="2240280" y="2221992"/>
            <a:ext cx="274320" cy="219456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Capa 2"/>
          <p:cNvSpPr/>
          <p:nvPr/>
        </p:nvSpPr>
        <p:spPr>
          <a:xfrm>
            <a:off x="548640" y="2468880"/>
            <a:ext cx="36576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Capa título 2"/>
          <p:cNvSpPr txBox="1"/>
          <p:nvPr/>
        </p:nvSpPr>
        <p:spPr>
          <a:xfrm>
            <a:off x="777240" y="2578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Lógica</a:t>
            </a:r>
            <a:endParaRPr lang="en-US" sz="1600" dirty="0"/>
          </a:p>
        </p:txBody>
      </p:sp>
      <p:sp>
        <p:nvSpPr>
          <p:cNvPr id="9" name="Capa texto 2"/>
          <p:cNvSpPr txBox="1"/>
          <p:nvPr/>
        </p:nvSpPr>
        <p:spPr>
          <a:xfrm>
            <a:off x="777240" y="2898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useSessionFlow: máquina de estados</a:t>
            </a:r>
            <a:endParaRPr lang="en-US" sz="1400" dirty="0"/>
          </a:p>
        </p:txBody>
      </p:sp>
      <p:sp>
        <p:nvSpPr>
          <p:cNvPr id="10" name="Flecha capa 2"/>
          <p:cNvSpPr/>
          <p:nvPr/>
        </p:nvSpPr>
        <p:spPr>
          <a:xfrm>
            <a:off x="2240280" y="3364992"/>
            <a:ext cx="274320" cy="219456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Capa 3"/>
          <p:cNvSpPr/>
          <p:nvPr/>
        </p:nvSpPr>
        <p:spPr>
          <a:xfrm>
            <a:off x="548640" y="3611880"/>
            <a:ext cx="36576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Capa título 3"/>
          <p:cNvSpPr txBox="1"/>
          <p:nvPr/>
        </p:nvSpPr>
        <p:spPr>
          <a:xfrm>
            <a:off x="777240" y="3721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Datos</a:t>
            </a:r>
            <a:endParaRPr lang="en-US" sz="1600" dirty="0"/>
          </a:p>
        </p:txBody>
      </p:sp>
      <p:sp>
        <p:nvSpPr>
          <p:cNvPr id="13" name="Capa texto 3"/>
          <p:cNvSpPr txBox="1"/>
          <p:nvPr/>
        </p:nvSpPr>
        <p:spPr>
          <a:xfrm>
            <a:off x="777240" y="4041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sessionRepository → localStorage</a:t>
            </a:r>
            <a:endParaRPr lang="en-US" sz="1400" dirty="0"/>
          </a:p>
        </p:txBody>
      </p:sp>
      <p:sp>
        <p:nvSpPr>
          <p:cNvPr id="14" name="Tecnología 1"/>
          <p:cNvSpPr/>
          <p:nvPr/>
        </p:nvSpPr>
        <p:spPr>
          <a:xfrm>
            <a:off x="4526280" y="1325880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c etiqueta 1"/>
          <p:cNvSpPr txBox="1"/>
          <p:nvPr/>
        </p:nvSpPr>
        <p:spPr>
          <a:xfrm>
            <a:off x="4709160" y="1435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INTERFAZ</a:t>
            </a:r>
            <a:endParaRPr lang="en-US" sz="1100" dirty="0"/>
          </a:p>
        </p:txBody>
      </p:sp>
      <p:sp>
        <p:nvSpPr>
          <p:cNvPr id="16" name="Tec valor 1"/>
          <p:cNvSpPr txBox="1"/>
          <p:nvPr/>
        </p:nvSpPr>
        <p:spPr>
          <a:xfrm>
            <a:off x="4709160" y="17099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React 18 + TypeScript</a:t>
            </a:r>
            <a:endParaRPr lang="en-US" sz="1400" dirty="0"/>
          </a:p>
        </p:txBody>
      </p:sp>
      <p:sp>
        <p:nvSpPr>
          <p:cNvPr id="17" name="Tecnología 2"/>
          <p:cNvSpPr/>
          <p:nvPr/>
        </p:nvSpPr>
        <p:spPr>
          <a:xfrm>
            <a:off x="6583680" y="1325880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c etiqueta 2"/>
          <p:cNvSpPr txBox="1"/>
          <p:nvPr/>
        </p:nvSpPr>
        <p:spPr>
          <a:xfrm>
            <a:off x="6766560" y="1435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NAVEGACIÓN</a:t>
            </a:r>
            <a:endParaRPr lang="en-US" sz="1100" dirty="0"/>
          </a:p>
        </p:txBody>
      </p:sp>
      <p:sp>
        <p:nvSpPr>
          <p:cNvPr id="19" name="Tec valor 2"/>
          <p:cNvSpPr txBox="1"/>
          <p:nvPr/>
        </p:nvSpPr>
        <p:spPr>
          <a:xfrm>
            <a:off x="6766560" y="17099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React Router</a:t>
            </a:r>
            <a:endParaRPr lang="en-US" sz="1400" dirty="0"/>
          </a:p>
        </p:txBody>
      </p:sp>
      <p:sp>
        <p:nvSpPr>
          <p:cNvPr id="20" name="Tecnología 3"/>
          <p:cNvSpPr/>
          <p:nvPr/>
        </p:nvSpPr>
        <p:spPr>
          <a:xfrm>
            <a:off x="4526280" y="2468880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c etiqueta 3"/>
          <p:cNvSpPr txBox="1"/>
          <p:nvPr/>
        </p:nvSpPr>
        <p:spPr>
          <a:xfrm>
            <a:off x="4709160" y="2578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BUILD</a:t>
            </a:r>
            <a:endParaRPr lang="en-US" sz="1100" dirty="0"/>
          </a:p>
        </p:txBody>
      </p:sp>
      <p:sp>
        <p:nvSpPr>
          <p:cNvPr id="22" name="Tec valor 3"/>
          <p:cNvSpPr txBox="1"/>
          <p:nvPr/>
        </p:nvSpPr>
        <p:spPr>
          <a:xfrm>
            <a:off x="4709160" y="28529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Vite</a:t>
            </a:r>
            <a:endParaRPr lang="en-US" sz="1400" dirty="0"/>
          </a:p>
        </p:txBody>
      </p:sp>
      <p:sp>
        <p:nvSpPr>
          <p:cNvPr id="23" name="Tecnología 4"/>
          <p:cNvSpPr/>
          <p:nvPr/>
        </p:nvSpPr>
        <p:spPr>
          <a:xfrm>
            <a:off x="6583680" y="2468880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c etiqueta 4"/>
          <p:cNvSpPr txBox="1"/>
          <p:nvPr/>
        </p:nvSpPr>
        <p:spPr>
          <a:xfrm>
            <a:off x="6766560" y="2578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DATOS</a:t>
            </a:r>
            <a:endParaRPr lang="en-US" sz="1100" dirty="0"/>
          </a:p>
        </p:txBody>
      </p:sp>
      <p:sp>
        <p:nvSpPr>
          <p:cNvPr id="25" name="Tec valor 4"/>
          <p:cNvSpPr txBox="1"/>
          <p:nvPr/>
        </p:nvSpPr>
        <p:spPr>
          <a:xfrm>
            <a:off x="6766560" y="28529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localStorage</a:t>
            </a:r>
            <a:endParaRPr lang="en-US" sz="1400" dirty="0"/>
          </a:p>
        </p:txBody>
      </p:sp>
      <p:sp>
        <p:nvSpPr>
          <p:cNvPr id="26" name="Tecnología 5"/>
          <p:cNvSpPr/>
          <p:nvPr/>
        </p:nvSpPr>
        <p:spPr>
          <a:xfrm>
            <a:off x="4526280" y="3611880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c etiqueta 5"/>
          <p:cNvSpPr txBox="1"/>
          <p:nvPr/>
        </p:nvSpPr>
        <p:spPr>
          <a:xfrm>
            <a:off x="4709160" y="3721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COMPARTIR</a:t>
            </a:r>
            <a:endParaRPr lang="en-US" sz="1100" dirty="0"/>
          </a:p>
        </p:txBody>
      </p:sp>
      <p:sp>
        <p:nvSpPr>
          <p:cNvPr id="28" name="Tec valor 5"/>
          <p:cNvSpPr txBox="1"/>
          <p:nvPr/>
        </p:nvSpPr>
        <p:spPr>
          <a:xfrm>
            <a:off x="4709160" y="39959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Web Share API</a:t>
            </a:r>
            <a:endParaRPr lang="en-US" sz="1400" dirty="0"/>
          </a:p>
        </p:txBody>
      </p:sp>
      <p:sp>
        <p:nvSpPr>
          <p:cNvPr id="29" name="Tecnología 6"/>
          <p:cNvSpPr/>
          <p:nvPr/>
        </p:nvSpPr>
        <p:spPr>
          <a:xfrm>
            <a:off x="6583680" y="3611880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c etiqueta 6"/>
          <p:cNvSpPr txBox="1"/>
          <p:nvPr/>
        </p:nvSpPr>
        <p:spPr>
          <a:xfrm>
            <a:off x="6766560" y="3721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CALIDAD</a:t>
            </a:r>
            <a:endParaRPr lang="en-US" sz="1100" dirty="0"/>
          </a:p>
        </p:txBody>
      </p:sp>
      <p:sp>
        <p:nvSpPr>
          <p:cNvPr id="31" name="Tec valor 6"/>
          <p:cNvSpPr txBox="1"/>
          <p:nvPr/>
        </p:nvSpPr>
        <p:spPr>
          <a:xfrm>
            <a:off x="6766560" y="39959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ESLint + jsx-a11y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Validación: todo en verde</a:t>
            </a:r>
            <a:endParaRPr lang="en-US" sz="3400" dirty="0"/>
          </a:p>
        </p:txBody>
      </p:sp>
      <p:sp>
        <p:nvSpPr>
          <p:cNvPr id="3" name="Total pruebas"/>
          <p:cNvSpPr/>
          <p:nvPr/>
        </p:nvSpPr>
        <p:spPr>
          <a:xfrm>
            <a:off x="548640" y="1325880"/>
            <a:ext cx="2743200" cy="301752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otal cifra"/>
          <p:cNvSpPr txBox="1"/>
          <p:nvPr/>
        </p:nvSpPr>
        <p:spPr>
          <a:xfrm>
            <a:off x="777240" y="16459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7200" dirty="0"/>
          </a:p>
        </p:txBody>
      </p:sp>
      <p:sp>
        <p:nvSpPr>
          <p:cNvPr id="5" name="Total texto"/>
          <p:cNvSpPr txBox="1"/>
          <p:nvPr/>
        </p:nvSpPr>
        <p:spPr>
          <a:xfrm>
            <a:off x="777240" y="2926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comprobaciones automáticas, todas pasan</a:t>
            </a:r>
            <a:endParaRPr lang="en-US" sz="1600" dirty="0"/>
          </a:p>
        </p:txBody>
      </p:sp>
      <p:sp>
        <p:nvSpPr>
          <p:cNvPr id="6" name="Dato validación 1"/>
          <p:cNvSpPr/>
          <p:nvPr/>
        </p:nvSpPr>
        <p:spPr>
          <a:xfrm>
            <a:off x="3566160" y="1325880"/>
            <a:ext cx="24231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Val cifra 1"/>
          <p:cNvSpPr txBox="1"/>
          <p:nvPr/>
        </p:nvSpPr>
        <p:spPr>
          <a:xfrm>
            <a:off x="3767328" y="14356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3200" dirty="0"/>
          </a:p>
        </p:txBody>
      </p:sp>
      <p:sp>
        <p:nvSpPr>
          <p:cNvPr id="8" name="Val texto 1"/>
          <p:cNvSpPr txBox="1"/>
          <p:nvPr/>
        </p:nvSpPr>
        <p:spPr>
          <a:xfrm>
            <a:off x="3767328" y="203911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tests unitarios y de componentes (Vitest)</a:t>
            </a:r>
            <a:endParaRPr lang="en-US" sz="1400" dirty="0"/>
          </a:p>
        </p:txBody>
      </p:sp>
      <p:sp>
        <p:nvSpPr>
          <p:cNvPr id="9" name="Dato validación 2"/>
          <p:cNvSpPr/>
          <p:nvPr/>
        </p:nvSpPr>
        <p:spPr>
          <a:xfrm>
            <a:off x="6172200" y="1325880"/>
            <a:ext cx="24231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Val cifra 2"/>
          <p:cNvSpPr txBox="1"/>
          <p:nvPr/>
        </p:nvSpPr>
        <p:spPr>
          <a:xfrm>
            <a:off x="6373368" y="14356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3200" dirty="0"/>
          </a:p>
        </p:txBody>
      </p:sp>
      <p:sp>
        <p:nvSpPr>
          <p:cNvPr id="11" name="Val texto 2"/>
          <p:cNvSpPr txBox="1"/>
          <p:nvPr/>
        </p:nvSpPr>
        <p:spPr>
          <a:xfrm>
            <a:off x="6373368" y="203911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pruebas e2e: 28 × 2 perfiles, Android e iPhone</a:t>
            </a:r>
            <a:endParaRPr lang="en-US" sz="1400" dirty="0"/>
          </a:p>
        </p:txBody>
      </p:sp>
      <p:sp>
        <p:nvSpPr>
          <p:cNvPr id="12" name="Dato validación 3"/>
          <p:cNvSpPr/>
          <p:nvPr/>
        </p:nvSpPr>
        <p:spPr>
          <a:xfrm>
            <a:off x="3566160" y="2926080"/>
            <a:ext cx="24231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Val cifra 3"/>
          <p:cNvSpPr txBox="1"/>
          <p:nvPr/>
        </p:nvSpPr>
        <p:spPr>
          <a:xfrm>
            <a:off x="3767328" y="30358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Val texto 3"/>
          <p:cNvSpPr txBox="1"/>
          <p:nvPr/>
        </p:nvSpPr>
        <p:spPr>
          <a:xfrm>
            <a:off x="3767328" y="363931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violaciones serious o critical de axe en 6 pantallas</a:t>
            </a:r>
            <a:endParaRPr lang="en-US" sz="1400" dirty="0"/>
          </a:p>
        </p:txBody>
      </p:sp>
      <p:sp>
        <p:nvSpPr>
          <p:cNvPr id="15" name="Dato validación 4"/>
          <p:cNvSpPr/>
          <p:nvPr/>
        </p:nvSpPr>
        <p:spPr>
          <a:xfrm>
            <a:off x="6172200" y="2926080"/>
            <a:ext cx="24231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Val cifra 4"/>
          <p:cNvSpPr txBox="1"/>
          <p:nvPr/>
        </p:nvSpPr>
        <p:spPr>
          <a:xfrm>
            <a:off x="6373368" y="30358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15/15</a:t>
            </a:r>
            <a:endParaRPr lang="en-US" sz="3200" dirty="0"/>
          </a:p>
        </p:txBody>
      </p:sp>
      <p:sp>
        <p:nvSpPr>
          <p:cNvPr id="17" name="Val texto 4"/>
          <p:cNvSpPr txBox="1"/>
          <p:nvPr/>
        </p:nvSpPr>
        <p:spPr>
          <a:xfrm>
            <a:off x="6373368" y="363931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pares de color que cumplen el contraste</a:t>
            </a:r>
            <a:endParaRPr lang="en-US" sz="1400" dirty="0"/>
          </a:p>
        </p:txBody>
      </p:sp>
      <p:sp>
        <p:nvSpPr>
          <p:cNvPr id="18" name="Nota validación"/>
          <p:cNvSpPr txBox="1"/>
          <p:nvPr/>
        </p:nvSpPr>
        <p:spPr>
          <a:xfrm>
            <a:off x="548640" y="44622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Validado el 16/10/2026. Cada test lleva el ID del requisito que comprueba.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Visión de futuro</a:t>
            </a:r>
            <a:endParaRPr lang="en-US" sz="3400" dirty="0"/>
          </a:p>
        </p:txBody>
      </p:sp>
      <p:sp>
        <p:nvSpPr>
          <p:cNvPr id="3" name="Futuro 1"/>
          <p:cNvSpPr/>
          <p:nvPr/>
        </p:nvSpPr>
        <p:spPr>
          <a:xfrm>
            <a:off x="548640" y="132588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o futuro 1 fondo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o futuro 1" descr="Icono futur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662379"/>
            <a:ext cx="241402" cy="241402"/>
          </a:xfrm>
          <a:prstGeom prst="rect">
            <a:avLst/>
          </a:prstGeom>
        </p:spPr>
      </p:pic>
      <p:sp>
        <p:nvSpPr>
          <p:cNvPr id="6" name="Futuro título 1"/>
          <p:cNvSpPr txBox="1"/>
          <p:nvPr/>
        </p:nvSpPr>
        <p:spPr>
          <a:xfrm>
            <a:off x="777240" y="2194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Lectura por voz</a:t>
            </a:r>
            <a:endParaRPr lang="en-US" sz="1800" dirty="0"/>
          </a:p>
        </p:txBody>
      </p:sp>
      <p:sp>
        <p:nvSpPr>
          <p:cNvPr id="7" name="Futuro texto 1"/>
          <p:cNvSpPr txBox="1"/>
          <p:nvPr/>
        </p:nvSpPr>
        <p:spPr>
          <a:xfrm>
            <a:off x="777240" y="25603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 pasos del ejercicio en voz alta: la primera mejora de accesibilidad.</a:t>
            </a:r>
            <a:endParaRPr lang="en-US" sz="1400" dirty="0"/>
          </a:p>
        </p:txBody>
      </p:sp>
      <p:sp>
        <p:nvSpPr>
          <p:cNvPr id="8" name="Futuro 2"/>
          <p:cNvSpPr/>
          <p:nvPr/>
        </p:nvSpPr>
        <p:spPr>
          <a:xfrm>
            <a:off x="3291840" y="132588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o futuro 2 fondo"/>
          <p:cNvSpPr/>
          <p:nvPr/>
        </p:nvSpPr>
        <p:spPr>
          <a:xfrm>
            <a:off x="3520440" y="1508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o futuro 2" descr="Icono futuro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059" y="1662379"/>
            <a:ext cx="241402" cy="241402"/>
          </a:xfrm>
          <a:prstGeom prst="rect">
            <a:avLst/>
          </a:prstGeom>
        </p:spPr>
      </p:pic>
      <p:sp>
        <p:nvSpPr>
          <p:cNvPr id="11" name="Futuro título 2"/>
          <p:cNvSpPr txBox="1"/>
          <p:nvPr/>
        </p:nvSpPr>
        <p:spPr>
          <a:xfrm>
            <a:off x="3520440" y="2194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Mi Plato</a:t>
            </a:r>
            <a:endParaRPr lang="en-US" sz="1800" dirty="0"/>
          </a:p>
        </p:txBody>
      </p:sp>
      <p:sp>
        <p:nvSpPr>
          <p:cNvPr id="12" name="Futuro texto 2"/>
          <p:cNvSpPr txBox="1"/>
          <p:nvPr/>
        </p:nvSpPr>
        <p:spPr>
          <a:xfrm>
            <a:off x="3520440" y="25603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Registro nutricional, con base de alimentos y validación profesional.</a:t>
            </a:r>
            <a:endParaRPr lang="en-US" sz="1400" dirty="0"/>
          </a:p>
        </p:txBody>
      </p:sp>
      <p:sp>
        <p:nvSpPr>
          <p:cNvPr id="13" name="Futuro 3"/>
          <p:cNvSpPr/>
          <p:nvPr/>
        </p:nvSpPr>
        <p:spPr>
          <a:xfrm>
            <a:off x="6035040" y="132588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o futuro 3 fondo"/>
          <p:cNvSpPr/>
          <p:nvPr/>
        </p:nvSpPr>
        <p:spPr>
          <a:xfrm>
            <a:off x="6263640" y="1508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ono futuro 3" descr="Icono futuro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259" y="1662379"/>
            <a:ext cx="241402" cy="241402"/>
          </a:xfrm>
          <a:prstGeom prst="rect">
            <a:avLst/>
          </a:prstGeom>
        </p:spPr>
      </p:pic>
      <p:sp>
        <p:nvSpPr>
          <p:cNvPr id="16" name="Futuro título 3"/>
          <p:cNvSpPr txBox="1"/>
          <p:nvPr/>
        </p:nvSpPr>
        <p:spPr>
          <a:xfrm>
            <a:off x="6263640" y="2194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Reto en Familia</a:t>
            </a:r>
            <a:endParaRPr lang="en-US" sz="1800" dirty="0"/>
          </a:p>
        </p:txBody>
      </p:sp>
      <p:sp>
        <p:nvSpPr>
          <p:cNvPr id="17" name="Futuro texto 3"/>
          <p:cNvSpPr txBox="1"/>
          <p:nvPr/>
        </p:nvSpPr>
        <p:spPr>
          <a:xfrm>
            <a:off x="6263640" y="25603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Desafíos y progreso compartido con la familia.</a:t>
            </a:r>
            <a:endParaRPr lang="en-US" sz="1400" dirty="0"/>
          </a:p>
        </p:txBody>
      </p:sp>
      <p:sp>
        <p:nvSpPr>
          <p:cNvPr id="18" name="Banda futuro"/>
          <p:cNvSpPr/>
          <p:nvPr/>
        </p:nvSpPr>
        <p:spPr>
          <a:xfrm>
            <a:off x="548640" y="3611880"/>
            <a:ext cx="804672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Futuro banda texto"/>
          <p:cNvSpPr txBox="1"/>
          <p:nvPr/>
        </p:nvSpPr>
        <p:spPr>
          <a:xfrm>
            <a:off x="822960" y="365760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Más ejercicios y rutinas,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 la misma salida segura. Mi Plato y Reto en Familia necesitarán servidor y cuentas.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cierre"/>
          <p:cNvSpPr txBox="1"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6000" dirty="0"/>
          </a:p>
        </p:txBody>
      </p:sp>
      <p:sp>
        <p:nvSpPr>
          <p:cNvPr id="3" name="Preguntas"/>
          <p:cNvSpPr txBox="1"/>
          <p:nvPr/>
        </p:nvSpPr>
        <p:spPr>
          <a:xfrm>
            <a:off x="731520" y="2514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5"/>
                </a:solidFill>
              </a:rPr>
              <a:t>¿Preguntas?</a:t>
            </a:r>
            <a:endParaRPr lang="en-US" sz="2800" dirty="0"/>
          </a:p>
        </p:txBody>
      </p:sp>
      <p:sp>
        <p:nvSpPr>
          <p:cNvPr id="4" name="Firma"/>
          <p:cNvSpPr txBox="1"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Vitalis — Mi Rutina · NexoTeam · Isaac, Iker y Enzo</a:t>
            </a:r>
            <a:endParaRPr lang="en-US" sz="1400" dirty="0"/>
          </a:p>
        </p:txBody>
      </p:sp>
      <p:sp>
        <p:nvSpPr>
          <p:cNvPr id="5" name="Tarjeta logo cierre"/>
          <p:cNvSpPr/>
          <p:nvPr/>
        </p:nvSpPr>
        <p:spPr>
          <a:xfrm>
            <a:off x="6309360" y="1097280"/>
            <a:ext cx="2103120" cy="228600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Logo Vitalis cierre" descr="Logotipo de Vitalis Mi Ruti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280160"/>
            <a:ext cx="1737360" cy="1719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talis">
  <a:themeElements>
    <a:clrScheme name="Vitalis">
      <a:dk1>
        <a:srgbClr val="141D33"/>
      </a:dk1>
      <a:lt1>
        <a:srgbClr val="FFFFFF"/>
      </a:lt1>
      <a:dk2>
        <a:srgbClr val="16294A"/>
      </a:dk2>
      <a:lt2>
        <a:srgbClr val="FAF7F1"/>
      </a:lt2>
      <a:accent1>
        <a:srgbClr val="B4481A"/>
      </a:accent1>
      <a:accent2>
        <a:srgbClr val="2F4D7D"/>
      </a:accent2>
      <a:accent3>
        <a:srgbClr val="12512A"/>
      </a:accent3>
      <a:accent4>
        <a:srgbClr val="E6F2E9"/>
      </a:accent4>
      <a:accent5>
        <a:srgbClr val="FCEFE3"/>
      </a:accent5>
      <a:accent6>
        <a:srgbClr val="4D566D"/>
      </a:accent6>
      <a:hlink>
        <a:srgbClr val="B4481A"/>
      </a:hlink>
      <a:folHlink>
        <a:srgbClr val="8F3610"/>
      </a:folHlink>
    </a:clrScheme>
    <a:fontScheme name="Vitali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Vitalis — Mi Rutina</dc:title>
  <dc:subject>PptxGenJS Presentation</dc:subject>
  <dc:creator>NexoTeam</dc:creator>
  <cp:lastModifiedBy>NexoTeam</cp:lastModifiedBy>
  <cp:revision>1</cp:revision>
  <dcterms:created xsi:type="dcterms:W3CDTF">2026-10-19T09:55:42Z</dcterms:created>
  <dcterms:modified xsi:type="dcterms:W3CDTF">2026-10-19T09:55:42Z</dcterms:modified>
</cp:coreProperties>
</file>